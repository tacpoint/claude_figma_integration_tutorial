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26"/>
  </p:normalViewPr>
  <p:slideViewPr>
    <p:cSldViewPr snapToGrid="0" snapToObjects="1">
      <p:cViewPr varScale="1">
        <p:scale>
          <a:sx n="120" d="100"/>
          <a:sy n="120" d="100"/>
        </p:scale>
        <p:origin x="448" y="3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5EF"/>
        </a:solidFill>
        <a:effectLst/>
      </p:bgPr>
    </p:bg>
    <p:spTree>
      <p:nvGrpSpPr>
        <p:cNvPr id="1" name=""/>
        <p:cNvGrpSpPr/>
        <p:nvPr/>
      </p:nvGrpSpPr>
      <p:grpSpPr>
        <a:xfrm>
          <a:off x="0" y="0"/>
          <a:ext cx="0" cy="0"/>
          <a:chOff x="0" y="0"/>
          <a:chExt cx="0" cy="0"/>
        </a:xfrm>
      </p:grpSpPr>
      <p:sp>
        <p:nvSpPr>
          <p:cNvPr id="2" name="Rectangle 1"/>
          <p:cNvSpPr/>
          <p:nvPr/>
        </p:nvSpPr>
        <p:spPr>
          <a:xfrm>
            <a:off x="0" y="2103120"/>
            <a:ext cx="12188952" cy="274320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0" y="411480"/>
            <a:ext cx="1645920" cy="548640"/>
          </a:xfrm>
          <a:prstGeom prst="rect">
            <a:avLst/>
          </a:prstGeom>
          <a:noFill/>
        </p:spPr>
        <p:txBody>
          <a:bodyPr wrap="square">
            <a:spAutoFit/>
          </a:bodyPr>
          <a:lstStyle/>
          <a:p>
            <a:pPr algn="l"/>
            <a:r>
              <a:rPr sz="1100" b="0" i="1">
                <a:solidFill>
                  <a:srgbClr val="6B6255"/>
                </a:solidFill>
                <a:latin typeface="Helvetica Neue"/>
              </a:rPr>
              <a:t>executive_assistant/</a:t>
            </a:r>
          </a:p>
        </p:txBody>
      </p:sp>
      <p:sp>
        <p:nvSpPr>
          <p:cNvPr id="4" name="TextBox 3"/>
          <p:cNvSpPr txBox="1"/>
          <p:nvPr/>
        </p:nvSpPr>
        <p:spPr>
          <a:xfrm>
            <a:off x="1371600" y="2240280"/>
            <a:ext cx="9144000" cy="1097280"/>
          </a:xfrm>
          <a:prstGeom prst="rect">
            <a:avLst/>
          </a:prstGeom>
          <a:noFill/>
        </p:spPr>
        <p:txBody>
          <a:bodyPr wrap="square">
            <a:spAutoFit/>
          </a:bodyPr>
          <a:lstStyle/>
          <a:p>
            <a:pPr algn="ctr"/>
            <a:r>
              <a:rPr sz="6000" b="1" i="0">
                <a:solidFill>
                  <a:srgbClr val="FFFFFF"/>
                </a:solidFill>
                <a:latin typeface="Helvetica Neue"/>
              </a:rPr>
              <a:t>The AI Agent OS</a:t>
            </a:r>
          </a:p>
        </p:txBody>
      </p:sp>
      <p:sp>
        <p:nvSpPr>
          <p:cNvPr id="5" name="TextBox 4"/>
          <p:cNvSpPr txBox="1"/>
          <p:nvPr/>
        </p:nvSpPr>
        <p:spPr>
          <a:xfrm>
            <a:off x="1371600" y="3337560"/>
            <a:ext cx="9144000" cy="640080"/>
          </a:xfrm>
          <a:prstGeom prst="rect">
            <a:avLst/>
          </a:prstGeom>
          <a:noFill/>
        </p:spPr>
        <p:txBody>
          <a:bodyPr wrap="square">
            <a:spAutoFit/>
          </a:bodyPr>
          <a:lstStyle/>
          <a:p>
            <a:pPr algn="ctr"/>
            <a:r>
              <a:rPr sz="2200" b="0" i="0">
                <a:solidFill>
                  <a:srgbClr val="FFFFFF"/>
                </a:solidFill>
                <a:latin typeface="Helvetica Neue"/>
              </a:rPr>
              <a:t>The AI system for building an army of digital employees</a:t>
            </a:r>
          </a:p>
        </p:txBody>
      </p:sp>
      <p:sp>
        <p:nvSpPr>
          <p:cNvPr id="6" name="TextBox 5"/>
          <p:cNvSpPr txBox="1"/>
          <p:nvPr/>
        </p:nvSpPr>
        <p:spPr>
          <a:xfrm>
            <a:off x="1371600" y="5120640"/>
            <a:ext cx="9144000" cy="457200"/>
          </a:xfrm>
          <a:prstGeom prst="rect">
            <a:avLst/>
          </a:prstGeom>
          <a:noFill/>
        </p:spPr>
        <p:txBody>
          <a:bodyPr wrap="square">
            <a:spAutoFit/>
          </a:bodyPr>
          <a:lstStyle/>
          <a:p>
            <a:pPr algn="ctr"/>
            <a:r>
              <a:rPr sz="1400" b="0" i="0">
                <a:solidFill>
                  <a:srgbClr val="6B6255"/>
                </a:solidFill>
                <a:latin typeface="Helvetica Neue"/>
              </a:rPr>
              <a:t>From manual chat ping-pong to fully autonomous teams</a:t>
            </a:r>
          </a:p>
        </p:txBody>
      </p:sp>
      <p:sp>
        <p:nvSpPr>
          <p:cNvPr id="7" name="TextBox 6"/>
          <p:cNvSpPr txBox="1"/>
          <p:nvPr/>
        </p:nvSpPr>
        <p:spPr>
          <a:xfrm>
            <a:off x="1371600" y="6035040"/>
            <a:ext cx="9144000" cy="457200"/>
          </a:xfrm>
          <a:prstGeom prst="rect">
            <a:avLst/>
          </a:prstGeom>
          <a:noFill/>
        </p:spPr>
        <p:txBody>
          <a:bodyPr wrap="square">
            <a:spAutoFit/>
          </a:bodyPr>
          <a:lstStyle/>
          <a:p>
            <a:pPr algn="ctr"/>
            <a:r>
              <a:rPr sz="1100" b="0" i="0">
                <a:solidFill>
                  <a:srgbClr val="6B6255"/>
                </a:solidFill>
                <a:latin typeface="Helvetica Neue"/>
              </a:rPr>
              <a:t>The Startup Ideas Podcast (SIP)  ·  @startupideaspod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5E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548640"/>
          </a:xfrm>
          <a:prstGeom prst="rect">
            <a:avLst/>
          </a:prstGeom>
          <a:noFill/>
        </p:spPr>
        <p:txBody>
          <a:bodyPr wrap="square">
            <a:spAutoFit/>
          </a:bodyPr>
          <a:lstStyle/>
          <a:p>
            <a:pPr algn="l"/>
            <a:r>
              <a:rPr sz="3200" b="1" i="0">
                <a:solidFill>
                  <a:srgbClr val="E86A2C"/>
                </a:solidFill>
                <a:latin typeface="Helvetica Neue"/>
              </a:rPr>
              <a:t>The Big Shift: Chat → Agents</a:t>
            </a:r>
          </a:p>
        </p:txBody>
      </p:sp>
      <p:sp>
        <p:nvSpPr>
          <p:cNvPr id="3" name="TextBox 2"/>
          <p:cNvSpPr txBox="1"/>
          <p:nvPr/>
        </p:nvSpPr>
        <p:spPr>
          <a:xfrm>
            <a:off x="548640" y="868680"/>
            <a:ext cx="9144000" cy="365760"/>
          </a:xfrm>
          <a:prstGeom prst="rect">
            <a:avLst/>
          </a:prstGeom>
          <a:noFill/>
        </p:spPr>
        <p:txBody>
          <a:bodyPr wrap="square">
            <a:spAutoFit/>
          </a:bodyPr>
          <a:lstStyle/>
          <a:p>
            <a:pPr algn="l"/>
            <a:r>
              <a:rPr sz="1400" b="0" i="0">
                <a:solidFill>
                  <a:srgbClr val="6B6255"/>
                </a:solidFill>
                <a:latin typeface="Helvetica Neue"/>
              </a:rPr>
              <a:t>Most people are stuck in Stage 1. Agents 10–20× more productive.</a:t>
            </a:r>
          </a:p>
        </p:txBody>
      </p:sp>
      <p:sp>
        <p:nvSpPr>
          <p:cNvPr id="4" name="Rectangle 3"/>
          <p:cNvSpPr/>
          <p:nvPr/>
        </p:nvSpPr>
        <p:spPr>
          <a:xfrm>
            <a:off x="548640" y="1417320"/>
            <a:ext cx="2286000" cy="594360"/>
          </a:xfrm>
          <a:prstGeom prst="rect">
            <a:avLst/>
          </a:prstGeom>
          <a:solidFill>
            <a:srgbClr val="E2D9CC"/>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572768"/>
            <a:ext cx="2103120" cy="502920"/>
          </a:xfrm>
          <a:prstGeom prst="rect">
            <a:avLst/>
          </a:prstGeom>
          <a:noFill/>
        </p:spPr>
        <p:txBody>
          <a:bodyPr wrap="square">
            <a:spAutoFit/>
          </a:bodyPr>
          <a:lstStyle/>
          <a:p>
            <a:pPr algn="l"/>
            <a:endParaRPr/>
          </a:p>
        </p:txBody>
      </p:sp>
      <p:sp>
        <p:nvSpPr>
          <p:cNvPr id="6" name="Rectangle 5"/>
          <p:cNvSpPr/>
          <p:nvPr/>
        </p:nvSpPr>
        <p:spPr>
          <a:xfrm>
            <a:off x="2926080" y="1417320"/>
            <a:ext cx="4206240" cy="594360"/>
          </a:xfrm>
          <a:prstGeom prst="rect">
            <a:avLst/>
          </a:prstGeom>
          <a:solidFill>
            <a:srgbClr val="E2D9CC"/>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35808" y="1572768"/>
            <a:ext cx="4023360" cy="502920"/>
          </a:xfrm>
          <a:prstGeom prst="rect">
            <a:avLst/>
          </a:prstGeom>
          <a:noFill/>
        </p:spPr>
        <p:txBody>
          <a:bodyPr wrap="square">
            <a:spAutoFit/>
          </a:bodyPr>
          <a:lstStyle/>
          <a:p>
            <a:pPr algn="l"/>
            <a:r>
              <a:rPr sz="1300" b="1" i="0">
                <a:solidFill>
                  <a:srgbClr val="1A1712"/>
                </a:solidFill>
                <a:latin typeface="Helvetica Neue"/>
              </a:rPr>
              <a:t>Stage 1: Chat Models</a:t>
            </a:r>
          </a:p>
        </p:txBody>
      </p:sp>
      <p:sp>
        <p:nvSpPr>
          <p:cNvPr id="8" name="Rectangle 7"/>
          <p:cNvSpPr/>
          <p:nvPr/>
        </p:nvSpPr>
        <p:spPr>
          <a:xfrm>
            <a:off x="7315200" y="1417320"/>
            <a:ext cx="3749039" cy="594360"/>
          </a:xfrm>
          <a:prstGeom prst="rect">
            <a:avLst/>
          </a:prstGeom>
          <a:solidFill>
            <a:srgbClr val="E86A2C"/>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24928" y="1572768"/>
            <a:ext cx="3566159" cy="502920"/>
          </a:xfrm>
          <a:prstGeom prst="rect">
            <a:avLst/>
          </a:prstGeom>
          <a:noFill/>
        </p:spPr>
        <p:txBody>
          <a:bodyPr wrap="square">
            <a:spAutoFit/>
          </a:bodyPr>
          <a:lstStyle/>
          <a:p>
            <a:pPr algn="l"/>
            <a:r>
              <a:rPr sz="1300" b="1" i="0">
                <a:solidFill>
                  <a:srgbClr val="FFFFFF"/>
                </a:solidFill>
                <a:latin typeface="Helvetica Neue"/>
              </a:rPr>
              <a:t>Stage 2: AI Agents</a:t>
            </a:r>
          </a:p>
        </p:txBody>
      </p:sp>
      <p:sp>
        <p:nvSpPr>
          <p:cNvPr id="10" name="Rectangle 9"/>
          <p:cNvSpPr/>
          <p:nvPr/>
        </p:nvSpPr>
        <p:spPr>
          <a:xfrm>
            <a:off x="548640" y="2057400"/>
            <a:ext cx="2286000" cy="59436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194560"/>
            <a:ext cx="2103120" cy="502920"/>
          </a:xfrm>
          <a:prstGeom prst="rect">
            <a:avLst/>
          </a:prstGeom>
          <a:noFill/>
        </p:spPr>
        <p:txBody>
          <a:bodyPr wrap="square">
            <a:spAutoFit/>
          </a:bodyPr>
          <a:lstStyle/>
          <a:p>
            <a:pPr algn="l"/>
            <a:r>
              <a:rPr sz="1300" b="0" i="0">
                <a:solidFill>
                  <a:srgbClr val="1A1712"/>
                </a:solidFill>
                <a:latin typeface="Helvetica Neue"/>
              </a:rPr>
              <a:t>Concept</a:t>
            </a:r>
          </a:p>
        </p:txBody>
      </p:sp>
      <p:sp>
        <p:nvSpPr>
          <p:cNvPr id="12" name="Rectangle 11"/>
          <p:cNvSpPr/>
          <p:nvPr/>
        </p:nvSpPr>
        <p:spPr>
          <a:xfrm>
            <a:off x="2926080" y="2057400"/>
            <a:ext cx="4206240" cy="59436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35808" y="2194560"/>
            <a:ext cx="4023360" cy="502920"/>
          </a:xfrm>
          <a:prstGeom prst="rect">
            <a:avLst/>
          </a:prstGeom>
          <a:noFill/>
        </p:spPr>
        <p:txBody>
          <a:bodyPr wrap="square">
            <a:spAutoFit/>
          </a:bodyPr>
          <a:lstStyle/>
          <a:p>
            <a:pPr algn="l"/>
            <a:r>
              <a:rPr sz="1300" b="0" i="0">
                <a:solidFill>
                  <a:srgbClr val="1A1712"/>
                </a:solidFill>
                <a:latin typeface="Helvetica Neue"/>
              </a:rPr>
              <a:t>Ping-pong interactions</a:t>
            </a:r>
          </a:p>
        </p:txBody>
      </p:sp>
      <p:sp>
        <p:nvSpPr>
          <p:cNvPr id="14" name="Rectangle 13"/>
          <p:cNvSpPr/>
          <p:nvPr/>
        </p:nvSpPr>
        <p:spPr>
          <a:xfrm>
            <a:off x="7315200" y="2057400"/>
            <a:ext cx="3749039" cy="594360"/>
          </a:xfrm>
          <a:prstGeom prst="rect">
            <a:avLst/>
          </a:prstGeom>
          <a:solidFill>
            <a:srgbClr val="F5C499"/>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24928" y="2194560"/>
            <a:ext cx="3566159" cy="502920"/>
          </a:xfrm>
          <a:prstGeom prst="rect">
            <a:avLst/>
          </a:prstGeom>
          <a:noFill/>
        </p:spPr>
        <p:txBody>
          <a:bodyPr wrap="square">
            <a:spAutoFit/>
          </a:bodyPr>
          <a:lstStyle/>
          <a:p>
            <a:pPr algn="l"/>
            <a:r>
              <a:rPr sz="1300" b="0" i="0">
                <a:solidFill>
                  <a:srgbClr val="1A1712"/>
                </a:solidFill>
                <a:latin typeface="Helvetica Neue"/>
              </a:rPr>
              <a:t>Autonomous planning</a:t>
            </a:r>
          </a:p>
        </p:txBody>
      </p:sp>
      <p:sp>
        <p:nvSpPr>
          <p:cNvPr id="16" name="Rectangle 15"/>
          <p:cNvSpPr/>
          <p:nvPr/>
        </p:nvSpPr>
        <p:spPr>
          <a:xfrm>
            <a:off x="548640" y="2788920"/>
            <a:ext cx="2286000" cy="594360"/>
          </a:xfrm>
          <a:prstGeom prst="rect">
            <a:avLst/>
          </a:prstGeom>
          <a:solidFill>
            <a:srgbClr val="F9F5E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2926080"/>
            <a:ext cx="2103120" cy="502920"/>
          </a:xfrm>
          <a:prstGeom prst="rect">
            <a:avLst/>
          </a:prstGeom>
          <a:noFill/>
        </p:spPr>
        <p:txBody>
          <a:bodyPr wrap="square">
            <a:spAutoFit/>
          </a:bodyPr>
          <a:lstStyle/>
          <a:p>
            <a:pPr algn="l"/>
            <a:r>
              <a:rPr sz="1300" b="0" i="0">
                <a:solidFill>
                  <a:srgbClr val="1A1712"/>
                </a:solidFill>
                <a:latin typeface="Helvetica Neue"/>
              </a:rPr>
              <a:t>Input</a:t>
            </a:r>
          </a:p>
        </p:txBody>
      </p:sp>
      <p:sp>
        <p:nvSpPr>
          <p:cNvPr id="18" name="Rectangle 17"/>
          <p:cNvSpPr/>
          <p:nvPr/>
        </p:nvSpPr>
        <p:spPr>
          <a:xfrm>
            <a:off x="2926080" y="2788920"/>
            <a:ext cx="4206240" cy="594360"/>
          </a:xfrm>
          <a:prstGeom prst="rect">
            <a:avLst/>
          </a:prstGeom>
          <a:solidFill>
            <a:srgbClr val="F9F5E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35808" y="2926080"/>
            <a:ext cx="4023360" cy="502920"/>
          </a:xfrm>
          <a:prstGeom prst="rect">
            <a:avLst/>
          </a:prstGeom>
          <a:noFill/>
        </p:spPr>
        <p:txBody>
          <a:bodyPr wrap="square">
            <a:spAutoFit/>
          </a:bodyPr>
          <a:lstStyle/>
          <a:p>
            <a:pPr algn="l"/>
            <a:r>
              <a:rPr sz="1300" b="0" i="0">
                <a:solidFill>
                  <a:srgbClr val="1A1712"/>
                </a:solidFill>
                <a:latin typeface="Helvetica Neue"/>
              </a:rPr>
              <a:t>Question → Answer</a:t>
            </a:r>
          </a:p>
        </p:txBody>
      </p:sp>
      <p:sp>
        <p:nvSpPr>
          <p:cNvPr id="20" name="Rectangle 19"/>
          <p:cNvSpPr/>
          <p:nvPr/>
        </p:nvSpPr>
        <p:spPr>
          <a:xfrm>
            <a:off x="7315200" y="2788920"/>
            <a:ext cx="3749039" cy="594360"/>
          </a:xfrm>
          <a:prstGeom prst="rect">
            <a:avLst/>
          </a:prstGeom>
          <a:solidFill>
            <a:srgbClr val="F5C499"/>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24928" y="2926080"/>
            <a:ext cx="3566159" cy="502920"/>
          </a:xfrm>
          <a:prstGeom prst="rect">
            <a:avLst/>
          </a:prstGeom>
          <a:noFill/>
        </p:spPr>
        <p:txBody>
          <a:bodyPr wrap="square">
            <a:spAutoFit/>
          </a:bodyPr>
          <a:lstStyle/>
          <a:p>
            <a:pPr algn="l"/>
            <a:r>
              <a:rPr sz="1300" b="0" i="0">
                <a:solidFill>
                  <a:srgbClr val="1A1712"/>
                </a:solidFill>
                <a:latin typeface="Helvetica Neue"/>
              </a:rPr>
              <a:t>Goal → Result</a:t>
            </a:r>
          </a:p>
        </p:txBody>
      </p:sp>
      <p:sp>
        <p:nvSpPr>
          <p:cNvPr id="22" name="Rectangle 21"/>
          <p:cNvSpPr/>
          <p:nvPr/>
        </p:nvSpPr>
        <p:spPr>
          <a:xfrm>
            <a:off x="548640" y="3520440"/>
            <a:ext cx="2286000" cy="59436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3657600"/>
            <a:ext cx="2103120" cy="502920"/>
          </a:xfrm>
          <a:prstGeom prst="rect">
            <a:avLst/>
          </a:prstGeom>
          <a:noFill/>
        </p:spPr>
        <p:txBody>
          <a:bodyPr wrap="square">
            <a:spAutoFit/>
          </a:bodyPr>
          <a:lstStyle/>
          <a:p>
            <a:pPr algn="l"/>
            <a:r>
              <a:rPr sz="1300" b="0" i="0">
                <a:solidFill>
                  <a:srgbClr val="1A1712"/>
                </a:solidFill>
                <a:latin typeface="Helvetica Neue"/>
              </a:rPr>
              <a:t>Execution</a:t>
            </a:r>
          </a:p>
        </p:txBody>
      </p:sp>
      <p:sp>
        <p:nvSpPr>
          <p:cNvPr id="24" name="Rectangle 23"/>
          <p:cNvSpPr/>
          <p:nvPr/>
        </p:nvSpPr>
        <p:spPr>
          <a:xfrm>
            <a:off x="2926080" y="3520440"/>
            <a:ext cx="4206240" cy="59436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035808" y="3657600"/>
            <a:ext cx="4023360" cy="502920"/>
          </a:xfrm>
          <a:prstGeom prst="rect">
            <a:avLst/>
          </a:prstGeom>
          <a:noFill/>
        </p:spPr>
        <p:txBody>
          <a:bodyPr wrap="square">
            <a:spAutoFit/>
          </a:bodyPr>
          <a:lstStyle/>
          <a:p>
            <a:pPr algn="l"/>
            <a:r>
              <a:rPr sz="1300" b="0" i="0">
                <a:solidFill>
                  <a:srgbClr val="1A1712"/>
                </a:solidFill>
                <a:latin typeface="Helvetica Neue"/>
              </a:rPr>
              <a:t>You do the work</a:t>
            </a:r>
          </a:p>
        </p:txBody>
      </p:sp>
      <p:sp>
        <p:nvSpPr>
          <p:cNvPr id="26" name="Rectangle 25"/>
          <p:cNvSpPr/>
          <p:nvPr/>
        </p:nvSpPr>
        <p:spPr>
          <a:xfrm>
            <a:off x="7315200" y="3520440"/>
            <a:ext cx="3749039" cy="594360"/>
          </a:xfrm>
          <a:prstGeom prst="rect">
            <a:avLst/>
          </a:prstGeom>
          <a:solidFill>
            <a:srgbClr val="F5C499"/>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24928" y="3657600"/>
            <a:ext cx="3566159" cy="502920"/>
          </a:xfrm>
          <a:prstGeom prst="rect">
            <a:avLst/>
          </a:prstGeom>
          <a:noFill/>
        </p:spPr>
        <p:txBody>
          <a:bodyPr wrap="square">
            <a:spAutoFit/>
          </a:bodyPr>
          <a:lstStyle/>
          <a:p>
            <a:pPr algn="l"/>
            <a:r>
              <a:rPr sz="1300" b="0" i="0">
                <a:solidFill>
                  <a:srgbClr val="1A1712"/>
                </a:solidFill>
                <a:latin typeface="Helvetica Neue"/>
              </a:rPr>
              <a:t>It does the work</a:t>
            </a:r>
          </a:p>
        </p:txBody>
      </p:sp>
      <p:sp>
        <p:nvSpPr>
          <p:cNvPr id="28" name="Rectangle 27"/>
          <p:cNvSpPr/>
          <p:nvPr/>
        </p:nvSpPr>
        <p:spPr>
          <a:xfrm>
            <a:off x="548640" y="4251960"/>
            <a:ext cx="2286000" cy="594360"/>
          </a:xfrm>
          <a:prstGeom prst="rect">
            <a:avLst/>
          </a:prstGeom>
          <a:solidFill>
            <a:srgbClr val="F9F5E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4389120"/>
            <a:ext cx="2103120" cy="502920"/>
          </a:xfrm>
          <a:prstGeom prst="rect">
            <a:avLst/>
          </a:prstGeom>
          <a:noFill/>
        </p:spPr>
        <p:txBody>
          <a:bodyPr wrap="square">
            <a:spAutoFit/>
          </a:bodyPr>
          <a:lstStyle/>
          <a:p>
            <a:pPr algn="l"/>
            <a:r>
              <a:rPr sz="1300" b="0" i="0">
                <a:solidFill>
                  <a:srgbClr val="1A1712"/>
                </a:solidFill>
                <a:latin typeface="Helvetica Neue"/>
              </a:rPr>
              <a:t>State</a:t>
            </a:r>
          </a:p>
        </p:txBody>
      </p:sp>
      <p:sp>
        <p:nvSpPr>
          <p:cNvPr id="30" name="Rectangle 29"/>
          <p:cNvSpPr/>
          <p:nvPr/>
        </p:nvSpPr>
        <p:spPr>
          <a:xfrm>
            <a:off x="2926080" y="4251960"/>
            <a:ext cx="4206240" cy="594360"/>
          </a:xfrm>
          <a:prstGeom prst="rect">
            <a:avLst/>
          </a:prstGeom>
          <a:solidFill>
            <a:srgbClr val="F9F5E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35808" y="4389120"/>
            <a:ext cx="4023360" cy="502920"/>
          </a:xfrm>
          <a:prstGeom prst="rect">
            <a:avLst/>
          </a:prstGeom>
          <a:noFill/>
        </p:spPr>
        <p:txBody>
          <a:bodyPr wrap="square">
            <a:spAutoFit/>
          </a:bodyPr>
          <a:lstStyle/>
          <a:p>
            <a:pPr algn="l"/>
            <a:r>
              <a:rPr sz="1300" b="0" i="0">
                <a:solidFill>
                  <a:srgbClr val="1A1712"/>
                </a:solidFill>
                <a:latin typeface="Helvetica Neue"/>
              </a:rPr>
              <a:t>Amnesiac (forgets across sessions)</a:t>
            </a:r>
          </a:p>
        </p:txBody>
      </p:sp>
      <p:sp>
        <p:nvSpPr>
          <p:cNvPr id="32" name="Rectangle 31"/>
          <p:cNvSpPr/>
          <p:nvPr/>
        </p:nvSpPr>
        <p:spPr>
          <a:xfrm>
            <a:off x="7315200" y="4251960"/>
            <a:ext cx="3749039" cy="594360"/>
          </a:xfrm>
          <a:prstGeom prst="rect">
            <a:avLst/>
          </a:prstGeom>
          <a:solidFill>
            <a:srgbClr val="F5C499"/>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24928" y="4389120"/>
            <a:ext cx="3566159" cy="502920"/>
          </a:xfrm>
          <a:prstGeom prst="rect">
            <a:avLst/>
          </a:prstGeom>
          <a:noFill/>
        </p:spPr>
        <p:txBody>
          <a:bodyPr wrap="square">
            <a:spAutoFit/>
          </a:bodyPr>
          <a:lstStyle/>
          <a:p>
            <a:pPr algn="l"/>
            <a:r>
              <a:rPr sz="1300" b="0" i="0">
                <a:solidFill>
                  <a:srgbClr val="1A1712"/>
                </a:solidFill>
                <a:latin typeface="Helvetica Neue"/>
              </a:rPr>
              <a:t>Stateful / Long-term Memory</a:t>
            </a:r>
          </a:p>
        </p:txBody>
      </p:sp>
      <p:sp>
        <p:nvSpPr>
          <p:cNvPr id="34" name="TextBox 33"/>
          <p:cNvSpPr txBox="1"/>
          <p:nvPr/>
        </p:nvSpPr>
        <p:spPr>
          <a:xfrm>
            <a:off x="548640" y="5120640"/>
            <a:ext cx="10972800" cy="457200"/>
          </a:xfrm>
          <a:prstGeom prst="rect">
            <a:avLst/>
          </a:prstGeom>
          <a:noFill/>
        </p:spPr>
        <p:txBody>
          <a:bodyPr wrap="square">
            <a:spAutoFit/>
          </a:bodyPr>
          <a:lstStyle/>
          <a:p>
            <a:pPr algn="l"/>
            <a:r>
              <a:rPr sz="1300" b="0" i="1">
                <a:solidFill>
                  <a:srgbClr val="6B6255"/>
                </a:solidFill>
                <a:latin typeface="Helvetica Neue"/>
              </a:rPr>
              <a:t>"Question to answer" vs "goal to result." Stack that over weeks and months — you're miles ahead.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5E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548640"/>
          </a:xfrm>
          <a:prstGeom prst="rect">
            <a:avLst/>
          </a:prstGeom>
          <a:noFill/>
        </p:spPr>
        <p:txBody>
          <a:bodyPr wrap="square">
            <a:spAutoFit/>
          </a:bodyPr>
          <a:lstStyle/>
          <a:p>
            <a:pPr algn="l"/>
            <a:r>
              <a:rPr sz="3200" b="1" i="0">
                <a:solidFill>
                  <a:srgbClr val="E86A2C"/>
                </a:solidFill>
                <a:latin typeface="Helvetica Neue"/>
              </a:rPr>
              <a:t>How the Agent Loop Works</a:t>
            </a:r>
          </a:p>
        </p:txBody>
      </p:sp>
      <p:sp>
        <p:nvSpPr>
          <p:cNvPr id="3" name="TextBox 2"/>
          <p:cNvSpPr txBox="1"/>
          <p:nvPr/>
        </p:nvSpPr>
        <p:spPr>
          <a:xfrm>
            <a:off x="548640" y="868680"/>
            <a:ext cx="9144000" cy="365760"/>
          </a:xfrm>
          <a:prstGeom prst="rect">
            <a:avLst/>
          </a:prstGeom>
          <a:noFill/>
        </p:spPr>
        <p:txBody>
          <a:bodyPr wrap="square">
            <a:spAutoFit/>
          </a:bodyPr>
          <a:lstStyle/>
          <a:p>
            <a:pPr algn="l"/>
            <a:r>
              <a:rPr sz="1400" b="0" i="0">
                <a:solidFill>
                  <a:srgbClr val="6B6255"/>
                </a:solidFill>
                <a:latin typeface="Helvetica Neue"/>
              </a:rPr>
              <a:t>Every agent runs the same three-step cycle — then loops until the goal is met.</a:t>
            </a:r>
          </a:p>
        </p:txBody>
      </p:sp>
      <p:sp>
        <p:nvSpPr>
          <p:cNvPr id="4" name="Rectangle 3"/>
          <p:cNvSpPr/>
          <p:nvPr/>
        </p:nvSpPr>
        <p:spPr>
          <a:xfrm>
            <a:off x="594360" y="1463040"/>
            <a:ext cx="3291840" cy="256032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463040"/>
            <a:ext cx="3291840" cy="73152"/>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00200"/>
            <a:ext cx="3017520" cy="502920"/>
          </a:xfrm>
          <a:prstGeom prst="rect">
            <a:avLst/>
          </a:prstGeom>
          <a:noFill/>
        </p:spPr>
        <p:txBody>
          <a:bodyPr wrap="square">
            <a:spAutoFit/>
          </a:bodyPr>
          <a:lstStyle/>
          <a:p>
            <a:pPr algn="l"/>
            <a:r>
              <a:rPr sz="1800" b="1" i="0">
                <a:solidFill>
                  <a:srgbClr val="E86A2C"/>
                </a:solidFill>
                <a:latin typeface="Helvetica Neue"/>
              </a:rPr>
              <a:t>01  OBSERVE</a:t>
            </a:r>
          </a:p>
        </p:txBody>
      </p:sp>
      <p:sp>
        <p:nvSpPr>
          <p:cNvPr id="7" name="TextBox 6"/>
          <p:cNvSpPr txBox="1"/>
          <p:nvPr/>
        </p:nvSpPr>
        <p:spPr>
          <a:xfrm>
            <a:off x="777240" y="2148840"/>
            <a:ext cx="3017520" cy="1737360"/>
          </a:xfrm>
          <a:prstGeom prst="rect">
            <a:avLst/>
          </a:prstGeom>
          <a:noFill/>
        </p:spPr>
        <p:txBody>
          <a:bodyPr wrap="square">
            <a:spAutoFit/>
          </a:bodyPr>
          <a:lstStyle/>
          <a:p>
            <a:pPr algn="l"/>
            <a:r>
              <a:rPr sz="1300" b="0" i="0">
                <a:solidFill>
                  <a:srgbClr val="6B6255"/>
                </a:solidFill>
                <a:latin typeface="Helvetica Neue"/>
              </a:rPr>
              <a:t>Checks the workspace for existing files, prior context, and relevant data.</a:t>
            </a:r>
          </a:p>
        </p:txBody>
      </p:sp>
      <p:sp>
        <p:nvSpPr>
          <p:cNvPr id="8" name="Rectangle 7"/>
          <p:cNvSpPr/>
          <p:nvPr/>
        </p:nvSpPr>
        <p:spPr>
          <a:xfrm>
            <a:off x="4343400" y="1463040"/>
            <a:ext cx="3291840" cy="256032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463040"/>
            <a:ext cx="3291840" cy="73152"/>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600200"/>
            <a:ext cx="3017520" cy="502920"/>
          </a:xfrm>
          <a:prstGeom prst="rect">
            <a:avLst/>
          </a:prstGeom>
          <a:noFill/>
        </p:spPr>
        <p:txBody>
          <a:bodyPr wrap="square">
            <a:spAutoFit/>
          </a:bodyPr>
          <a:lstStyle/>
          <a:p>
            <a:pPr algn="l"/>
            <a:r>
              <a:rPr sz="1800" b="1" i="0">
                <a:solidFill>
                  <a:srgbClr val="E86A2C"/>
                </a:solidFill>
                <a:latin typeface="Helvetica Neue"/>
              </a:rPr>
              <a:t>02  THINK</a:t>
            </a:r>
          </a:p>
        </p:txBody>
      </p:sp>
      <p:sp>
        <p:nvSpPr>
          <p:cNvPr id="11" name="TextBox 10"/>
          <p:cNvSpPr txBox="1"/>
          <p:nvPr/>
        </p:nvSpPr>
        <p:spPr>
          <a:xfrm>
            <a:off x="4526280" y="2148840"/>
            <a:ext cx="3017520" cy="1737360"/>
          </a:xfrm>
          <a:prstGeom prst="rect">
            <a:avLst/>
          </a:prstGeom>
          <a:noFill/>
        </p:spPr>
        <p:txBody>
          <a:bodyPr wrap="square">
            <a:spAutoFit/>
          </a:bodyPr>
          <a:lstStyle/>
          <a:p>
            <a:pPr algn="l"/>
            <a:r>
              <a:rPr sz="1300" b="0" i="0">
                <a:solidFill>
                  <a:srgbClr val="6B6255"/>
                </a:solidFill>
                <a:latin typeface="Helvetica Neue"/>
              </a:rPr>
              <a:t>Decides what to do next. Plans steps. Considers alternatives before acting.</a:t>
            </a:r>
          </a:p>
        </p:txBody>
      </p:sp>
      <p:sp>
        <p:nvSpPr>
          <p:cNvPr id="12" name="Rectangle 11"/>
          <p:cNvSpPr/>
          <p:nvPr/>
        </p:nvSpPr>
        <p:spPr>
          <a:xfrm>
            <a:off x="8092440" y="1463040"/>
            <a:ext cx="3291840" cy="256032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92440" y="1463040"/>
            <a:ext cx="3291840" cy="73152"/>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1600200"/>
            <a:ext cx="3017520" cy="502920"/>
          </a:xfrm>
          <a:prstGeom prst="rect">
            <a:avLst/>
          </a:prstGeom>
          <a:noFill/>
        </p:spPr>
        <p:txBody>
          <a:bodyPr wrap="square">
            <a:spAutoFit/>
          </a:bodyPr>
          <a:lstStyle/>
          <a:p>
            <a:pPr algn="l"/>
            <a:r>
              <a:rPr sz="1800" b="1" i="0">
                <a:solidFill>
                  <a:srgbClr val="E86A2C"/>
                </a:solidFill>
                <a:latin typeface="Helvetica Neue"/>
              </a:rPr>
              <a:t>03  ACT</a:t>
            </a:r>
          </a:p>
        </p:txBody>
      </p:sp>
      <p:sp>
        <p:nvSpPr>
          <p:cNvPr id="15" name="TextBox 14"/>
          <p:cNvSpPr txBox="1"/>
          <p:nvPr/>
        </p:nvSpPr>
        <p:spPr>
          <a:xfrm>
            <a:off x="8275320" y="2148840"/>
            <a:ext cx="3017520" cy="1737360"/>
          </a:xfrm>
          <a:prstGeom prst="rect">
            <a:avLst/>
          </a:prstGeom>
          <a:noFill/>
        </p:spPr>
        <p:txBody>
          <a:bodyPr wrap="square">
            <a:spAutoFit/>
          </a:bodyPr>
          <a:lstStyle/>
          <a:p>
            <a:pPr algn="l"/>
            <a:r>
              <a:rPr sz="1300" b="0" i="0">
                <a:solidFill>
                  <a:srgbClr val="6B6255"/>
                </a:solidFill>
                <a:latin typeface="Helvetica Neue"/>
              </a:rPr>
              <a:t>Executes: writes code, searches the web, calls APIs, reads files, takes screenshots.</a:t>
            </a:r>
          </a:p>
        </p:txBody>
      </p:sp>
      <p:sp>
        <p:nvSpPr>
          <p:cNvPr id="16" name="TextBox 15"/>
          <p:cNvSpPr txBox="1"/>
          <p:nvPr/>
        </p:nvSpPr>
        <p:spPr>
          <a:xfrm>
            <a:off x="4023360" y="2606040"/>
            <a:ext cx="411480" cy="365760"/>
          </a:xfrm>
          <a:prstGeom prst="rect">
            <a:avLst/>
          </a:prstGeom>
          <a:noFill/>
        </p:spPr>
        <p:txBody>
          <a:bodyPr wrap="square">
            <a:spAutoFit/>
          </a:bodyPr>
          <a:lstStyle/>
          <a:p>
            <a:pPr algn="ctr"/>
            <a:r>
              <a:rPr sz="2800" b="1" i="0">
                <a:solidFill>
                  <a:srgbClr val="E86A2C"/>
                </a:solidFill>
                <a:latin typeface="Helvetica Neue"/>
              </a:rPr>
              <a:t>→</a:t>
            </a:r>
          </a:p>
        </p:txBody>
      </p:sp>
      <p:sp>
        <p:nvSpPr>
          <p:cNvPr id="17" name="TextBox 16"/>
          <p:cNvSpPr txBox="1"/>
          <p:nvPr/>
        </p:nvSpPr>
        <p:spPr>
          <a:xfrm>
            <a:off x="7452360" y="2606040"/>
            <a:ext cx="411480" cy="365760"/>
          </a:xfrm>
          <a:prstGeom prst="rect">
            <a:avLst/>
          </a:prstGeom>
          <a:noFill/>
        </p:spPr>
        <p:txBody>
          <a:bodyPr wrap="square">
            <a:spAutoFit/>
          </a:bodyPr>
          <a:lstStyle/>
          <a:p>
            <a:pPr algn="ctr"/>
            <a:r>
              <a:rPr sz="2800" b="1" i="0">
                <a:solidFill>
                  <a:srgbClr val="E86A2C"/>
                </a:solidFill>
                <a:latin typeface="Helvetica Neue"/>
              </a:rPr>
              <a:t>→</a:t>
            </a:r>
          </a:p>
        </p:txBody>
      </p:sp>
      <p:sp>
        <p:nvSpPr>
          <p:cNvPr id="18" name="TextBox 17"/>
          <p:cNvSpPr txBox="1"/>
          <p:nvPr/>
        </p:nvSpPr>
        <p:spPr>
          <a:xfrm>
            <a:off x="3200400" y="4251960"/>
            <a:ext cx="5486400" cy="365760"/>
          </a:xfrm>
          <a:prstGeom prst="rect">
            <a:avLst/>
          </a:prstGeom>
          <a:noFill/>
        </p:spPr>
        <p:txBody>
          <a:bodyPr wrap="square">
            <a:spAutoFit/>
          </a:bodyPr>
          <a:lstStyle/>
          <a:p>
            <a:pPr algn="ctr"/>
            <a:r>
              <a:rPr sz="1300" b="0" i="1">
                <a:solidFill>
                  <a:srgbClr val="6B6255"/>
                </a:solidFill>
                <a:latin typeface="Helvetica Neue"/>
              </a:rPr>
              <a:t>↺  Loops back until the agent concludes the task is complete</a:t>
            </a:r>
          </a:p>
        </p:txBody>
      </p:sp>
      <p:sp>
        <p:nvSpPr>
          <p:cNvPr id="19" name="TextBox 18"/>
          <p:cNvSpPr txBox="1"/>
          <p:nvPr/>
        </p:nvSpPr>
        <p:spPr>
          <a:xfrm>
            <a:off x="548640" y="5029200"/>
            <a:ext cx="10972800" cy="1188720"/>
          </a:xfrm>
          <a:prstGeom prst="rect">
            <a:avLst/>
          </a:prstGeom>
          <a:noFill/>
        </p:spPr>
        <p:txBody>
          <a:bodyPr wrap="square">
            <a:spAutoFit/>
          </a:bodyPr>
          <a:lstStyle/>
          <a:p>
            <a:pPr algn="l"/>
            <a:r>
              <a:rPr sz="1300" b="0" i="0">
                <a:solidFill>
                  <a:srgbClr val="1A1712"/>
                </a:solidFill>
                <a:latin typeface="Helvetica Neue"/>
              </a:rPr>
              <a:t>Example: "Build a portfolio site for Greg Eisenberg."
Observe → reads workspace.  Think → plans the build.  Act → writes code, spins up site, screenshots to verify.
Then loops: writes plan → writes code → deploys → verifies. Done.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5E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548640"/>
          </a:xfrm>
          <a:prstGeom prst="rect">
            <a:avLst/>
          </a:prstGeom>
          <a:noFill/>
        </p:spPr>
        <p:txBody>
          <a:bodyPr wrap="square">
            <a:spAutoFit/>
          </a:bodyPr>
          <a:lstStyle/>
          <a:p>
            <a:pPr algn="l"/>
            <a:r>
              <a:rPr sz="3200" b="1" i="0">
                <a:solidFill>
                  <a:srgbClr val="E86A2C"/>
                </a:solidFill>
                <a:latin typeface="Helvetica Neue"/>
              </a:rPr>
              <a:t>Agent Harnesses: Learn to Drive, Pick Any Car</a:t>
            </a:r>
          </a:p>
        </p:txBody>
      </p:sp>
      <p:sp>
        <p:nvSpPr>
          <p:cNvPr id="3" name="TextBox 2"/>
          <p:cNvSpPr txBox="1"/>
          <p:nvPr/>
        </p:nvSpPr>
        <p:spPr>
          <a:xfrm>
            <a:off x="548640" y="868680"/>
            <a:ext cx="9601200" cy="411480"/>
          </a:xfrm>
          <a:prstGeom prst="rect">
            <a:avLst/>
          </a:prstGeom>
          <a:noFill/>
        </p:spPr>
        <p:txBody>
          <a:bodyPr wrap="square">
            <a:spAutoFit/>
          </a:bodyPr>
          <a:lstStyle/>
          <a:p>
            <a:pPr algn="l"/>
            <a:r>
              <a:rPr sz="1400" b="0" i="0">
                <a:solidFill>
                  <a:srgbClr val="6B6255"/>
                </a:solidFill>
                <a:latin typeface="Helvetica Neue"/>
              </a:rPr>
              <a:t>Claude Code, Codex, Cowork, Manus, OpenClaw — different apps running the exact same Observe → Think → Act loop.</a:t>
            </a:r>
          </a:p>
        </p:txBody>
      </p:sp>
      <p:sp>
        <p:nvSpPr>
          <p:cNvPr id="4" name="Rectangle 3"/>
          <p:cNvSpPr/>
          <p:nvPr/>
        </p:nvSpPr>
        <p:spPr>
          <a:xfrm>
            <a:off x="502920" y="1463040"/>
            <a:ext cx="2011680" cy="192024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463040"/>
            <a:ext cx="64008" cy="19202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00200"/>
            <a:ext cx="1828800" cy="384048"/>
          </a:xfrm>
          <a:prstGeom prst="rect">
            <a:avLst/>
          </a:prstGeom>
          <a:noFill/>
        </p:spPr>
        <p:txBody>
          <a:bodyPr wrap="square">
            <a:spAutoFit/>
          </a:bodyPr>
          <a:lstStyle/>
          <a:p>
            <a:pPr algn="l"/>
            <a:r>
              <a:rPr sz="1400" b="1" i="0">
                <a:solidFill>
                  <a:srgbClr val="E86A2C"/>
                </a:solidFill>
                <a:latin typeface="Helvetica Neue"/>
              </a:rPr>
              <a:t>Claude Code</a:t>
            </a:r>
          </a:p>
        </p:txBody>
      </p:sp>
      <p:sp>
        <p:nvSpPr>
          <p:cNvPr id="7" name="TextBox 6"/>
          <p:cNvSpPr txBox="1"/>
          <p:nvPr/>
        </p:nvSpPr>
        <p:spPr>
          <a:xfrm>
            <a:off x="640080" y="2011680"/>
            <a:ext cx="1828800" cy="1188720"/>
          </a:xfrm>
          <a:prstGeom prst="rect">
            <a:avLst/>
          </a:prstGeom>
          <a:noFill/>
        </p:spPr>
        <p:txBody>
          <a:bodyPr wrap="square">
            <a:spAutoFit/>
          </a:bodyPr>
          <a:lstStyle/>
          <a:p>
            <a:pPr algn="l"/>
            <a:r>
              <a:rPr sz="1100" b="0" i="0">
                <a:solidFill>
                  <a:srgbClr val="6B6255"/>
                </a:solidFill>
                <a:latin typeface="Helvetica Neue"/>
              </a:rPr>
              <a:t>Anthropic's CLI agent. Deep codebase reasoning. Preferred for developers.</a:t>
            </a:r>
          </a:p>
        </p:txBody>
      </p:sp>
      <p:sp>
        <p:nvSpPr>
          <p:cNvPr id="8" name="Rectangle 7"/>
          <p:cNvSpPr/>
          <p:nvPr/>
        </p:nvSpPr>
        <p:spPr>
          <a:xfrm>
            <a:off x="2743200" y="1463040"/>
            <a:ext cx="2011680" cy="192024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0" y="1463040"/>
            <a:ext cx="64008" cy="19202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80360" y="1600200"/>
            <a:ext cx="1828800" cy="384048"/>
          </a:xfrm>
          <a:prstGeom prst="rect">
            <a:avLst/>
          </a:prstGeom>
          <a:noFill/>
        </p:spPr>
        <p:txBody>
          <a:bodyPr wrap="square">
            <a:spAutoFit/>
          </a:bodyPr>
          <a:lstStyle/>
          <a:p>
            <a:pPr algn="l"/>
            <a:r>
              <a:rPr sz="1400" b="1" i="0">
                <a:solidFill>
                  <a:srgbClr val="E86A2C"/>
                </a:solidFill>
                <a:latin typeface="Helvetica Neue"/>
              </a:rPr>
              <a:t>Codex</a:t>
            </a:r>
          </a:p>
        </p:txBody>
      </p:sp>
      <p:sp>
        <p:nvSpPr>
          <p:cNvPr id="11" name="TextBox 10"/>
          <p:cNvSpPr txBox="1"/>
          <p:nvPr/>
        </p:nvSpPr>
        <p:spPr>
          <a:xfrm>
            <a:off x="2880360" y="2011680"/>
            <a:ext cx="1828800" cy="1188720"/>
          </a:xfrm>
          <a:prstGeom prst="rect">
            <a:avLst/>
          </a:prstGeom>
          <a:noFill/>
        </p:spPr>
        <p:txBody>
          <a:bodyPr wrap="square">
            <a:spAutoFit/>
          </a:bodyPr>
          <a:lstStyle/>
          <a:p>
            <a:pPr algn="l"/>
            <a:r>
              <a:rPr sz="1100" b="0" i="0">
                <a:solidFill>
                  <a:srgbClr val="6B6255"/>
                </a:solidFill>
                <a:latin typeface="Helvetica Neue"/>
              </a:rPr>
              <a:t>OpenAI's coding agent. Runs tasks in isolated sandboxes.</a:t>
            </a:r>
          </a:p>
        </p:txBody>
      </p:sp>
      <p:sp>
        <p:nvSpPr>
          <p:cNvPr id="12" name="Rectangle 11"/>
          <p:cNvSpPr/>
          <p:nvPr/>
        </p:nvSpPr>
        <p:spPr>
          <a:xfrm>
            <a:off x="4983480" y="1463040"/>
            <a:ext cx="2011680" cy="192024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983480" y="1463040"/>
            <a:ext cx="64008" cy="19202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20640" y="1600200"/>
            <a:ext cx="1828800" cy="384048"/>
          </a:xfrm>
          <a:prstGeom prst="rect">
            <a:avLst/>
          </a:prstGeom>
          <a:noFill/>
        </p:spPr>
        <p:txBody>
          <a:bodyPr wrap="square">
            <a:spAutoFit/>
          </a:bodyPr>
          <a:lstStyle/>
          <a:p>
            <a:pPr algn="l"/>
            <a:r>
              <a:rPr sz="1400" b="1" i="0">
                <a:solidFill>
                  <a:srgbClr val="E86A2C"/>
                </a:solidFill>
                <a:latin typeface="Helvetica Neue"/>
              </a:rPr>
              <a:t>Cowork</a:t>
            </a:r>
          </a:p>
        </p:txBody>
      </p:sp>
      <p:sp>
        <p:nvSpPr>
          <p:cNvPr id="15" name="TextBox 14"/>
          <p:cNvSpPr txBox="1"/>
          <p:nvPr/>
        </p:nvSpPr>
        <p:spPr>
          <a:xfrm>
            <a:off x="5120640" y="2011680"/>
            <a:ext cx="1828800" cy="1188720"/>
          </a:xfrm>
          <a:prstGeom prst="rect">
            <a:avLst/>
          </a:prstGeom>
          <a:noFill/>
        </p:spPr>
        <p:txBody>
          <a:bodyPr wrap="square">
            <a:spAutoFit/>
          </a:bodyPr>
          <a:lstStyle/>
          <a:p>
            <a:pPr algn="l"/>
            <a:r>
              <a:rPr sz="1100" b="0" i="0">
                <a:solidFill>
                  <a:srgbClr val="6B6255"/>
                </a:solidFill>
                <a:latin typeface="Helvetica Neue"/>
              </a:rPr>
              <a:t>Business-focused. Great starting point for non-technical users.</a:t>
            </a:r>
          </a:p>
        </p:txBody>
      </p:sp>
      <p:sp>
        <p:nvSpPr>
          <p:cNvPr id="16" name="Rectangle 15"/>
          <p:cNvSpPr/>
          <p:nvPr/>
        </p:nvSpPr>
        <p:spPr>
          <a:xfrm>
            <a:off x="7223760" y="1463040"/>
            <a:ext cx="2011680" cy="192024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223760" y="1463040"/>
            <a:ext cx="64008" cy="19202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60920" y="1600200"/>
            <a:ext cx="1828800" cy="384048"/>
          </a:xfrm>
          <a:prstGeom prst="rect">
            <a:avLst/>
          </a:prstGeom>
          <a:noFill/>
        </p:spPr>
        <p:txBody>
          <a:bodyPr wrap="square">
            <a:spAutoFit/>
          </a:bodyPr>
          <a:lstStyle/>
          <a:p>
            <a:pPr algn="l"/>
            <a:r>
              <a:rPr sz="1400" b="1" i="0">
                <a:solidFill>
                  <a:srgbClr val="E86A2C"/>
                </a:solidFill>
                <a:latin typeface="Helvetica Neue"/>
              </a:rPr>
              <a:t>Manus</a:t>
            </a:r>
          </a:p>
        </p:txBody>
      </p:sp>
      <p:sp>
        <p:nvSpPr>
          <p:cNvPr id="19" name="TextBox 18"/>
          <p:cNvSpPr txBox="1"/>
          <p:nvPr/>
        </p:nvSpPr>
        <p:spPr>
          <a:xfrm>
            <a:off x="7360920" y="2011680"/>
            <a:ext cx="1828800" cy="1188720"/>
          </a:xfrm>
          <a:prstGeom prst="rect">
            <a:avLst/>
          </a:prstGeom>
          <a:noFill/>
        </p:spPr>
        <p:txBody>
          <a:bodyPr wrap="square">
            <a:spAutoFit/>
          </a:bodyPr>
          <a:lstStyle/>
          <a:p>
            <a:pPr algn="l"/>
            <a:r>
              <a:rPr sz="1100" b="0" i="0">
                <a:solidFill>
                  <a:srgbClr val="6B6255"/>
                </a:solidFill>
                <a:latin typeface="Helvetica Neue"/>
              </a:rPr>
              <a:t>General-purpose agent with strong multi-step autonomy.</a:t>
            </a:r>
          </a:p>
        </p:txBody>
      </p:sp>
      <p:sp>
        <p:nvSpPr>
          <p:cNvPr id="20" name="Rectangle 19"/>
          <p:cNvSpPr/>
          <p:nvPr/>
        </p:nvSpPr>
        <p:spPr>
          <a:xfrm>
            <a:off x="9464040" y="1463040"/>
            <a:ext cx="2011680" cy="192024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464040" y="1463040"/>
            <a:ext cx="64008" cy="19202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01200" y="1600200"/>
            <a:ext cx="1828800" cy="384048"/>
          </a:xfrm>
          <a:prstGeom prst="rect">
            <a:avLst/>
          </a:prstGeom>
          <a:noFill/>
        </p:spPr>
        <p:txBody>
          <a:bodyPr wrap="square">
            <a:spAutoFit/>
          </a:bodyPr>
          <a:lstStyle/>
          <a:p>
            <a:pPr algn="l"/>
            <a:r>
              <a:rPr sz="1400" b="1" i="0">
                <a:solidFill>
                  <a:srgbClr val="E86A2C"/>
                </a:solidFill>
                <a:latin typeface="Helvetica Neue"/>
              </a:rPr>
              <a:t>OpenClaw</a:t>
            </a:r>
          </a:p>
        </p:txBody>
      </p:sp>
      <p:sp>
        <p:nvSpPr>
          <p:cNvPr id="23" name="TextBox 22"/>
          <p:cNvSpPr txBox="1"/>
          <p:nvPr/>
        </p:nvSpPr>
        <p:spPr>
          <a:xfrm>
            <a:off x="9601200" y="2011680"/>
            <a:ext cx="1828800" cy="1188720"/>
          </a:xfrm>
          <a:prstGeom prst="rect">
            <a:avLst/>
          </a:prstGeom>
          <a:noFill/>
        </p:spPr>
        <p:txBody>
          <a:bodyPr wrap="square">
            <a:spAutoFit/>
          </a:bodyPr>
          <a:lstStyle/>
          <a:p>
            <a:pPr algn="l"/>
            <a:r>
              <a:rPr sz="1100" b="0" i="0">
                <a:solidFill>
                  <a:srgbClr val="6B6255"/>
                </a:solidFill>
                <a:latin typeface="Helvetica Neue"/>
              </a:rPr>
              <a:t>Open-source harness. Full control, more setup required.</a:t>
            </a:r>
          </a:p>
        </p:txBody>
      </p:sp>
      <p:sp>
        <p:nvSpPr>
          <p:cNvPr id="24" name="Rectangle 23"/>
          <p:cNvSpPr/>
          <p:nvPr/>
        </p:nvSpPr>
        <p:spPr>
          <a:xfrm>
            <a:off x="548640" y="3657600"/>
            <a:ext cx="11064240" cy="1463040"/>
          </a:xfrm>
          <a:prstGeom prst="rect">
            <a:avLst/>
          </a:prstGeom>
          <a:solidFill>
            <a:srgbClr val="F5C499"/>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3749039"/>
            <a:ext cx="10607040" cy="1280160"/>
          </a:xfrm>
          <a:prstGeom prst="rect">
            <a:avLst/>
          </a:prstGeom>
          <a:noFill/>
        </p:spPr>
        <p:txBody>
          <a:bodyPr wrap="square">
            <a:spAutoFit/>
          </a:bodyPr>
          <a:lstStyle/>
          <a:p>
            <a:pPr algn="l"/>
            <a:r>
              <a:rPr sz="1300" b="0" i="0">
                <a:solidFill>
                  <a:srgbClr val="1A1712"/>
                </a:solidFill>
                <a:latin typeface="Helvetica Neue"/>
              </a:rPr>
              <a:t>Key insight: Learn the loop once — observe, think, act — and you can switch harnesses the way a driver switches cars.
The seat warmers and cruise control change. The pedals and steering stay the same.
Remy ran the same prompt across Claude Code, Codex, and Antigravity. All three built the same working site.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5EF"/>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28600"/>
            <a:ext cx="2743200" cy="411480"/>
          </a:xfrm>
          <a:prstGeom prst="rect">
            <a:avLst/>
          </a:prstGeom>
          <a:noFill/>
        </p:spPr>
        <p:txBody>
          <a:bodyPr wrap="square">
            <a:spAutoFit/>
          </a:bodyPr>
          <a:lstStyle/>
          <a:p>
            <a:pPr algn="l"/>
            <a:r>
              <a:rPr sz="1200" b="1" i="0">
                <a:solidFill>
                  <a:srgbClr val="E86A2C"/>
                </a:solidFill>
                <a:latin typeface="Helvetica Neue"/>
              </a:rPr>
              <a:t>STEP  01</a:t>
            </a:r>
          </a:p>
        </p:txBody>
      </p:sp>
      <p:sp>
        <p:nvSpPr>
          <p:cNvPr id="4" name="TextBox 3"/>
          <p:cNvSpPr txBox="1"/>
          <p:nvPr/>
        </p:nvSpPr>
        <p:spPr>
          <a:xfrm>
            <a:off x="411480" y="548640"/>
            <a:ext cx="8229600" cy="685800"/>
          </a:xfrm>
          <a:prstGeom prst="rect">
            <a:avLst/>
          </a:prstGeom>
          <a:noFill/>
        </p:spPr>
        <p:txBody>
          <a:bodyPr wrap="square">
            <a:spAutoFit/>
          </a:bodyPr>
          <a:lstStyle/>
          <a:p>
            <a:pPr algn="l"/>
            <a:r>
              <a:rPr sz="3600" b="1" i="0">
                <a:solidFill>
                  <a:srgbClr val="1A1712"/>
                </a:solidFill>
                <a:latin typeface="Helvetica Neue"/>
              </a:rPr>
              <a:t>The Brain  —  agents.md</a:t>
            </a:r>
          </a:p>
        </p:txBody>
      </p:sp>
      <p:sp>
        <p:nvSpPr>
          <p:cNvPr id="5" name="TextBox 4"/>
          <p:cNvSpPr txBox="1"/>
          <p:nvPr/>
        </p:nvSpPr>
        <p:spPr>
          <a:xfrm>
            <a:off x="411480" y="1234440"/>
            <a:ext cx="7772400" cy="411480"/>
          </a:xfrm>
          <a:prstGeom prst="rect">
            <a:avLst/>
          </a:prstGeom>
          <a:noFill/>
        </p:spPr>
        <p:txBody>
          <a:bodyPr wrap="square">
            <a:spAutoFit/>
          </a:bodyPr>
          <a:lstStyle/>
          <a:p>
            <a:pPr algn="l"/>
            <a:r>
              <a:rPr sz="1400" b="0" i="0">
                <a:solidFill>
                  <a:srgbClr val="6B6255"/>
                </a:solidFill>
                <a:latin typeface="Helvetica Neue"/>
              </a:rPr>
              <a:t>Context Engineering &gt; Prompt Engineering. Load your agent with business context upfront.</a:t>
            </a:r>
          </a:p>
        </p:txBody>
      </p:sp>
      <p:sp>
        <p:nvSpPr>
          <p:cNvPr id="6" name="TextBox 5"/>
          <p:cNvSpPr txBox="1"/>
          <p:nvPr/>
        </p:nvSpPr>
        <p:spPr>
          <a:xfrm>
            <a:off x="411480" y="1874519"/>
            <a:ext cx="5029200" cy="347472"/>
          </a:xfrm>
          <a:prstGeom prst="rect">
            <a:avLst/>
          </a:prstGeom>
          <a:noFill/>
        </p:spPr>
        <p:txBody>
          <a:bodyPr wrap="square">
            <a:spAutoFit/>
          </a:bodyPr>
          <a:lstStyle/>
          <a:p>
            <a:pPr algn="l"/>
            <a:r>
              <a:rPr sz="1300" b="1" i="0">
                <a:solidFill>
                  <a:srgbClr val="1A1712"/>
                </a:solidFill>
                <a:latin typeface="Helvetica Neue"/>
              </a:rPr>
              <a:t>What goes in your agents.md:</a:t>
            </a:r>
          </a:p>
        </p:txBody>
      </p:sp>
      <p:sp>
        <p:nvSpPr>
          <p:cNvPr id="7" name="Rectangle 6"/>
          <p:cNvSpPr/>
          <p:nvPr/>
        </p:nvSpPr>
        <p:spPr>
          <a:xfrm>
            <a:off x="411480" y="2286000"/>
            <a:ext cx="5120640" cy="1645920"/>
          </a:xfrm>
          <a:prstGeom prst="rect">
            <a:avLst/>
          </a:prstGeom>
          <a:solidFill>
            <a:srgbClr val="1A1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377440"/>
            <a:ext cx="4846320" cy="1463040"/>
          </a:xfrm>
          <a:prstGeom prst="rect">
            <a:avLst/>
          </a:prstGeom>
          <a:noFill/>
        </p:spPr>
        <p:txBody>
          <a:bodyPr wrap="square">
            <a:spAutoFit/>
          </a:bodyPr>
          <a:lstStyle/>
          <a:p>
            <a:pPr algn="l"/>
            <a:r>
              <a:rPr sz="1200" b="0" i="1">
                <a:solidFill>
                  <a:srgbClr val="B5E853"/>
                </a:solidFill>
                <a:latin typeface="Helvetica Neue"/>
              </a:rPr>
              <a:t># Role: Executive Assistant
# Context: I run a design agency targeting B2B SaaS.
# Preferences: Keep all emails under 3 sentences.
#              Never use corporate jargon.</a:t>
            </a:r>
          </a:p>
        </p:txBody>
      </p:sp>
      <p:sp>
        <p:nvSpPr>
          <p:cNvPr id="9" name="Rectangle 8"/>
          <p:cNvSpPr/>
          <p:nvPr/>
        </p:nvSpPr>
        <p:spPr>
          <a:xfrm>
            <a:off x="5943600" y="1737360"/>
            <a:ext cx="5760720" cy="411480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0" y="1874519"/>
            <a:ext cx="5486400" cy="320040"/>
          </a:xfrm>
          <a:prstGeom prst="rect">
            <a:avLst/>
          </a:prstGeom>
          <a:noFill/>
        </p:spPr>
        <p:txBody>
          <a:bodyPr wrap="square">
            <a:spAutoFit/>
          </a:bodyPr>
          <a:lstStyle/>
          <a:p>
            <a:pPr algn="l"/>
            <a:r>
              <a:rPr sz="1300" b="1" i="0">
                <a:solidFill>
                  <a:srgbClr val="E86A2C"/>
                </a:solidFill>
                <a:latin typeface="Helvetica Neue"/>
              </a:rPr>
              <a:t>Loads automatically</a:t>
            </a:r>
          </a:p>
        </p:txBody>
      </p:sp>
      <p:sp>
        <p:nvSpPr>
          <p:cNvPr id="11" name="TextBox 10"/>
          <p:cNvSpPr txBox="1"/>
          <p:nvPr/>
        </p:nvSpPr>
        <p:spPr>
          <a:xfrm>
            <a:off x="6126480" y="2167127"/>
            <a:ext cx="5394960" cy="502920"/>
          </a:xfrm>
          <a:prstGeom prst="rect">
            <a:avLst/>
          </a:prstGeom>
          <a:noFill/>
        </p:spPr>
        <p:txBody>
          <a:bodyPr wrap="square">
            <a:spAutoFit/>
          </a:bodyPr>
          <a:lstStyle/>
          <a:p>
            <a:pPr algn="l"/>
            <a:r>
              <a:rPr sz="1200" b="0" i="0">
                <a:solidFill>
                  <a:srgbClr val="6B6255"/>
                </a:solidFill>
                <a:latin typeface="Helvetica Neue"/>
              </a:rPr>
              <a:t>Before every task. You never have to explain who you are again.</a:t>
            </a:r>
          </a:p>
        </p:txBody>
      </p:sp>
      <p:sp>
        <p:nvSpPr>
          <p:cNvPr id="12" name="TextBox 11"/>
          <p:cNvSpPr txBox="1"/>
          <p:nvPr/>
        </p:nvSpPr>
        <p:spPr>
          <a:xfrm>
            <a:off x="6126480" y="2788919"/>
            <a:ext cx="5486400" cy="320040"/>
          </a:xfrm>
          <a:prstGeom prst="rect">
            <a:avLst/>
          </a:prstGeom>
          <a:noFill/>
        </p:spPr>
        <p:txBody>
          <a:bodyPr wrap="square">
            <a:spAutoFit/>
          </a:bodyPr>
          <a:lstStyle/>
          <a:p>
            <a:pPr algn="l"/>
            <a:r>
              <a:rPr sz="1300" b="1" i="0">
                <a:solidFill>
                  <a:srgbClr val="E86A2C"/>
                </a:solidFill>
                <a:latin typeface="Helvetica Neue"/>
              </a:rPr>
              <a:t>Different names</a:t>
            </a:r>
          </a:p>
        </p:txBody>
      </p:sp>
      <p:sp>
        <p:nvSpPr>
          <p:cNvPr id="13" name="TextBox 12"/>
          <p:cNvSpPr txBox="1"/>
          <p:nvPr/>
        </p:nvSpPr>
        <p:spPr>
          <a:xfrm>
            <a:off x="6126480" y="3081527"/>
            <a:ext cx="5394960" cy="502920"/>
          </a:xfrm>
          <a:prstGeom prst="rect">
            <a:avLst/>
          </a:prstGeom>
          <a:noFill/>
        </p:spPr>
        <p:txBody>
          <a:bodyPr wrap="square">
            <a:spAutoFit/>
          </a:bodyPr>
          <a:lstStyle/>
          <a:p>
            <a:pPr algn="l"/>
            <a:r>
              <a:rPr sz="1200" b="0" i="0">
                <a:solidFill>
                  <a:srgbClr val="6B6255"/>
                </a:solidFill>
                <a:latin typeface="Helvetica Neue"/>
              </a:rPr>
              <a:t>Claude Code → claude.md · Codex / OpenClaw → agents.md · Gemini → gemini.ini</a:t>
            </a:r>
          </a:p>
        </p:txBody>
      </p:sp>
      <p:sp>
        <p:nvSpPr>
          <p:cNvPr id="14" name="TextBox 13"/>
          <p:cNvSpPr txBox="1"/>
          <p:nvPr/>
        </p:nvSpPr>
        <p:spPr>
          <a:xfrm>
            <a:off x="6126480" y="3703319"/>
            <a:ext cx="5486400" cy="320040"/>
          </a:xfrm>
          <a:prstGeom prst="rect">
            <a:avLst/>
          </a:prstGeom>
          <a:noFill/>
        </p:spPr>
        <p:txBody>
          <a:bodyPr wrap="square">
            <a:spAutoFit/>
          </a:bodyPr>
          <a:lstStyle/>
          <a:p>
            <a:pPr algn="l"/>
            <a:r>
              <a:rPr sz="1300" b="1" i="0">
                <a:solidFill>
                  <a:srgbClr val="E86A2C"/>
                </a:solidFill>
                <a:latin typeface="Helvetica Neue"/>
              </a:rPr>
              <a:t>Build it with AI</a:t>
            </a:r>
          </a:p>
        </p:txBody>
      </p:sp>
      <p:sp>
        <p:nvSpPr>
          <p:cNvPr id="15" name="TextBox 14"/>
          <p:cNvSpPr txBox="1"/>
          <p:nvPr/>
        </p:nvSpPr>
        <p:spPr>
          <a:xfrm>
            <a:off x="6126480" y="3995927"/>
            <a:ext cx="5394960" cy="502920"/>
          </a:xfrm>
          <a:prstGeom prst="rect">
            <a:avLst/>
          </a:prstGeom>
          <a:noFill/>
        </p:spPr>
        <p:txBody>
          <a:bodyPr wrap="square">
            <a:spAutoFit/>
          </a:bodyPr>
          <a:lstStyle/>
          <a:p>
            <a:pPr algn="l"/>
            <a:r>
              <a:rPr sz="1200" b="0" i="0">
                <a:solidFill>
                  <a:srgbClr val="6B6255"/>
                </a:solidFill>
                <a:latin typeface="Helvetica Neue"/>
              </a:rPr>
              <a:t>Ask the agent interview-style questions: 'Extract my context then build the file.'</a:t>
            </a:r>
          </a:p>
        </p:txBody>
      </p:sp>
      <p:sp>
        <p:nvSpPr>
          <p:cNvPr id="16" name="TextBox 15"/>
          <p:cNvSpPr txBox="1"/>
          <p:nvPr/>
        </p:nvSpPr>
        <p:spPr>
          <a:xfrm>
            <a:off x="6126480" y="4617719"/>
            <a:ext cx="5486400" cy="320040"/>
          </a:xfrm>
          <a:prstGeom prst="rect">
            <a:avLst/>
          </a:prstGeom>
          <a:noFill/>
        </p:spPr>
        <p:txBody>
          <a:bodyPr wrap="square">
            <a:spAutoFit/>
          </a:bodyPr>
          <a:lstStyle/>
          <a:p>
            <a:pPr algn="l"/>
            <a:r>
              <a:rPr sz="1300" b="1" i="0">
                <a:solidFill>
                  <a:srgbClr val="E86A2C"/>
                </a:solidFill>
                <a:latin typeface="Helvetica Neue"/>
              </a:rPr>
              <a:t>Big shift</a:t>
            </a:r>
          </a:p>
        </p:txBody>
      </p:sp>
      <p:sp>
        <p:nvSpPr>
          <p:cNvPr id="17" name="TextBox 16"/>
          <p:cNvSpPr txBox="1"/>
          <p:nvPr/>
        </p:nvSpPr>
        <p:spPr>
          <a:xfrm>
            <a:off x="6126480" y="4910327"/>
            <a:ext cx="5394960" cy="502920"/>
          </a:xfrm>
          <a:prstGeom prst="rect">
            <a:avLst/>
          </a:prstGeom>
          <a:noFill/>
        </p:spPr>
        <p:txBody>
          <a:bodyPr wrap="square">
            <a:spAutoFit/>
          </a:bodyPr>
          <a:lstStyle/>
          <a:p>
            <a:pPr algn="l"/>
            <a:r>
              <a:rPr sz="1200" b="0" i="0">
                <a:solidFill>
                  <a:srgbClr val="6B6255"/>
                </a:solidFill>
                <a:latin typeface="Helvetica Neue"/>
              </a:rPr>
              <a:t>Your daily prompts become stupidly simple. 'Write a cold email' is enough once context is loaded.</a:t>
            </a:r>
          </a:p>
        </p:txBody>
      </p:sp>
      <p:sp>
        <p:nvSpPr>
          <p:cNvPr id="18" name="Rectangle 17"/>
          <p:cNvSpPr/>
          <p:nvPr/>
        </p:nvSpPr>
        <p:spPr>
          <a:xfrm>
            <a:off x="411480" y="5943600"/>
            <a:ext cx="11338560" cy="548640"/>
          </a:xfrm>
          <a:prstGeom prst="rect">
            <a:avLst/>
          </a:prstGeom>
          <a:solidFill>
            <a:srgbClr val="F5C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989320"/>
            <a:ext cx="10972800" cy="411480"/>
          </a:xfrm>
          <a:prstGeom prst="rect">
            <a:avLst/>
          </a:prstGeom>
          <a:noFill/>
        </p:spPr>
        <p:txBody>
          <a:bodyPr wrap="square">
            <a:spAutoFit/>
          </a:bodyPr>
          <a:lstStyle/>
          <a:p>
            <a:pPr algn="l"/>
            <a:r>
              <a:rPr sz="1200" b="0" i="1">
                <a:solidFill>
                  <a:srgbClr val="1A1712"/>
                </a:solidFill>
                <a:latin typeface="Helvetica Neue"/>
              </a:rPr>
              <a:t>Best practice: Keep agents.md under 200 lines. Use AI to build the first version — ask interview-style questions.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5EF"/>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28600"/>
            <a:ext cx="2743200" cy="411480"/>
          </a:xfrm>
          <a:prstGeom prst="rect">
            <a:avLst/>
          </a:prstGeom>
          <a:noFill/>
        </p:spPr>
        <p:txBody>
          <a:bodyPr wrap="square">
            <a:spAutoFit/>
          </a:bodyPr>
          <a:lstStyle/>
          <a:p>
            <a:pPr algn="l"/>
            <a:r>
              <a:rPr sz="1200" b="1" i="0">
                <a:solidFill>
                  <a:srgbClr val="E86A2C"/>
                </a:solidFill>
                <a:latin typeface="Helvetica Neue"/>
              </a:rPr>
              <a:t>STEP  02</a:t>
            </a:r>
          </a:p>
        </p:txBody>
      </p:sp>
      <p:sp>
        <p:nvSpPr>
          <p:cNvPr id="4" name="TextBox 3"/>
          <p:cNvSpPr txBox="1"/>
          <p:nvPr/>
        </p:nvSpPr>
        <p:spPr>
          <a:xfrm>
            <a:off x="411480" y="548640"/>
            <a:ext cx="8229600" cy="685800"/>
          </a:xfrm>
          <a:prstGeom prst="rect">
            <a:avLst/>
          </a:prstGeom>
          <a:noFill/>
        </p:spPr>
        <p:txBody>
          <a:bodyPr wrap="square">
            <a:spAutoFit/>
          </a:bodyPr>
          <a:lstStyle/>
          <a:p>
            <a:pPr algn="l"/>
            <a:r>
              <a:rPr sz="3600" b="1" i="0">
                <a:solidFill>
                  <a:srgbClr val="1A1712"/>
                </a:solidFill>
                <a:latin typeface="Helvetica Neue"/>
              </a:rPr>
              <a:t>The Memory  —  memory.md</a:t>
            </a:r>
          </a:p>
        </p:txBody>
      </p:sp>
      <p:sp>
        <p:nvSpPr>
          <p:cNvPr id="5" name="TextBox 4"/>
          <p:cNvSpPr txBox="1"/>
          <p:nvPr/>
        </p:nvSpPr>
        <p:spPr>
          <a:xfrm>
            <a:off x="411480" y="1234440"/>
            <a:ext cx="8229600" cy="411480"/>
          </a:xfrm>
          <a:prstGeom prst="rect">
            <a:avLst/>
          </a:prstGeom>
          <a:noFill/>
        </p:spPr>
        <p:txBody>
          <a:bodyPr wrap="square">
            <a:spAutoFit/>
          </a:bodyPr>
          <a:lstStyle/>
          <a:p>
            <a:pPr algn="l"/>
            <a:r>
              <a:rPr sz="1400" b="0" i="0">
                <a:solidFill>
                  <a:srgbClr val="6B6255"/>
                </a:solidFill>
                <a:latin typeface="Helvetica Neue"/>
              </a:rPr>
              <a:t>Give your agent the ability to self-update. Good employees remember preferences and improve over time.</a:t>
            </a:r>
          </a:p>
        </p:txBody>
      </p:sp>
      <p:sp>
        <p:nvSpPr>
          <p:cNvPr id="6" name="Rectangle 5"/>
          <p:cNvSpPr/>
          <p:nvPr/>
        </p:nvSpPr>
        <p:spPr>
          <a:xfrm>
            <a:off x="411480" y="1828800"/>
            <a:ext cx="5486400" cy="210312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920240"/>
            <a:ext cx="5212080" cy="347472"/>
          </a:xfrm>
          <a:prstGeom prst="rect">
            <a:avLst/>
          </a:prstGeom>
          <a:noFill/>
        </p:spPr>
        <p:txBody>
          <a:bodyPr wrap="square">
            <a:spAutoFit/>
          </a:bodyPr>
          <a:lstStyle/>
          <a:p>
            <a:pPr algn="l"/>
            <a:r>
              <a:rPr sz="1400" b="1" i="0">
                <a:solidFill>
                  <a:srgbClr val="6B6255"/>
                </a:solidFill>
                <a:latin typeface="Helvetica Neue"/>
              </a:rPr>
              <a:t>Without memory</a:t>
            </a:r>
          </a:p>
        </p:txBody>
      </p:sp>
      <p:sp>
        <p:nvSpPr>
          <p:cNvPr id="8" name="TextBox 7"/>
          <p:cNvSpPr txBox="1"/>
          <p:nvPr/>
        </p:nvSpPr>
        <p:spPr>
          <a:xfrm>
            <a:off x="594360" y="2286000"/>
            <a:ext cx="5212080" cy="1554480"/>
          </a:xfrm>
          <a:prstGeom prst="rect">
            <a:avLst/>
          </a:prstGeom>
          <a:noFill/>
        </p:spPr>
        <p:txBody>
          <a:bodyPr wrap="square">
            <a:spAutoFit/>
          </a:bodyPr>
          <a:lstStyle/>
          <a:p>
            <a:pPr algn="l"/>
            <a:r>
              <a:rPr sz="1300" b="0" i="0">
                <a:solidFill>
                  <a:srgbClr val="1A1712"/>
                </a:solidFill>
                <a:latin typeface="Helvetica Neue"/>
              </a:rPr>
              <a:t>You say 'my favourite color is lavender.' It says 'got it.' Next session? No idea.
You repeat yourself every single time.</a:t>
            </a:r>
          </a:p>
        </p:txBody>
      </p:sp>
      <p:sp>
        <p:nvSpPr>
          <p:cNvPr id="9" name="Rectangle 8"/>
          <p:cNvSpPr/>
          <p:nvPr/>
        </p:nvSpPr>
        <p:spPr>
          <a:xfrm>
            <a:off x="6126480" y="1828800"/>
            <a:ext cx="5486400" cy="2103120"/>
          </a:xfrm>
          <a:prstGeom prst="rect">
            <a:avLst/>
          </a:prstGeom>
          <a:solidFill>
            <a:srgbClr val="F5C499"/>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920240"/>
            <a:ext cx="5212080" cy="347472"/>
          </a:xfrm>
          <a:prstGeom prst="rect">
            <a:avLst/>
          </a:prstGeom>
          <a:noFill/>
        </p:spPr>
        <p:txBody>
          <a:bodyPr wrap="square">
            <a:spAutoFit/>
          </a:bodyPr>
          <a:lstStyle/>
          <a:p>
            <a:pPr algn="l"/>
            <a:r>
              <a:rPr sz="1400" b="1" i="0">
                <a:solidFill>
                  <a:srgbClr val="E86A2C"/>
                </a:solidFill>
                <a:latin typeface="Helvetica Neue"/>
              </a:rPr>
              <a:t>With memory.md</a:t>
            </a:r>
          </a:p>
        </p:txBody>
      </p:sp>
      <p:sp>
        <p:nvSpPr>
          <p:cNvPr id="11" name="TextBox 10"/>
          <p:cNvSpPr txBox="1"/>
          <p:nvPr/>
        </p:nvSpPr>
        <p:spPr>
          <a:xfrm>
            <a:off x="6309360" y="2286000"/>
            <a:ext cx="5212080" cy="1554480"/>
          </a:xfrm>
          <a:prstGeom prst="rect">
            <a:avLst/>
          </a:prstGeom>
          <a:noFill/>
        </p:spPr>
        <p:txBody>
          <a:bodyPr wrap="square">
            <a:spAutoFit/>
          </a:bodyPr>
          <a:lstStyle/>
          <a:p>
            <a:pPr algn="l"/>
            <a:r>
              <a:rPr sz="1300" b="0" i="0">
                <a:solidFill>
                  <a:srgbClr val="1A1712"/>
                </a:solidFill>
                <a:latin typeface="Helvetica Neue"/>
              </a:rPr>
              <a:t>You say 'quit writing so formally.' The agent updates memory.md with 'keep tone casual, never formal.' Every future session carries that preference forward.</a:t>
            </a:r>
          </a:p>
        </p:txBody>
      </p:sp>
      <p:sp>
        <p:nvSpPr>
          <p:cNvPr id="12" name="TextBox 11"/>
          <p:cNvSpPr txBox="1"/>
          <p:nvPr/>
        </p:nvSpPr>
        <p:spPr>
          <a:xfrm>
            <a:off x="411480" y="4114800"/>
            <a:ext cx="11338560" cy="384048"/>
          </a:xfrm>
          <a:prstGeom prst="rect">
            <a:avLst/>
          </a:prstGeom>
          <a:noFill/>
        </p:spPr>
        <p:txBody>
          <a:bodyPr wrap="square">
            <a:spAutoFit/>
          </a:bodyPr>
          <a:lstStyle/>
          <a:p>
            <a:pPr algn="l"/>
            <a:r>
              <a:rPr sz="1400" b="1" i="0">
                <a:solidFill>
                  <a:srgbClr val="1A1712"/>
                </a:solidFill>
                <a:latin typeface="Helvetica Neue"/>
              </a:rPr>
              <a:t>How to set it up:</a:t>
            </a:r>
          </a:p>
        </p:txBody>
      </p:sp>
      <p:sp>
        <p:nvSpPr>
          <p:cNvPr id="13" name="TextBox 12"/>
          <p:cNvSpPr txBox="1"/>
          <p:nvPr/>
        </p:nvSpPr>
        <p:spPr>
          <a:xfrm>
            <a:off x="594360" y="4526280"/>
            <a:ext cx="10972800" cy="347472"/>
          </a:xfrm>
          <a:prstGeom prst="rect">
            <a:avLst/>
          </a:prstGeom>
          <a:noFill/>
        </p:spPr>
        <p:txBody>
          <a:bodyPr wrap="square">
            <a:spAutoFit/>
          </a:bodyPr>
          <a:lstStyle/>
          <a:p>
            <a:pPr algn="l"/>
            <a:r>
              <a:rPr sz="1300" b="0" i="0">
                <a:solidFill>
                  <a:srgbClr val="1A1712"/>
                </a:solidFill>
                <a:latin typeface="Helvetica Neue"/>
              </a:rPr>
              <a:t>1.  Add to agents.md:  'read memory.md before every task'</a:t>
            </a:r>
          </a:p>
        </p:txBody>
      </p:sp>
      <p:sp>
        <p:nvSpPr>
          <p:cNvPr id="14" name="TextBox 13"/>
          <p:cNvSpPr txBox="1"/>
          <p:nvPr/>
        </p:nvSpPr>
        <p:spPr>
          <a:xfrm>
            <a:off x="594360" y="4910328"/>
            <a:ext cx="10972800" cy="347472"/>
          </a:xfrm>
          <a:prstGeom prst="rect">
            <a:avLst/>
          </a:prstGeom>
          <a:noFill/>
        </p:spPr>
        <p:txBody>
          <a:bodyPr wrap="square">
            <a:spAutoFit/>
          </a:bodyPr>
          <a:lstStyle/>
          <a:p>
            <a:pPr algn="l"/>
            <a:r>
              <a:rPr sz="1300" b="0" i="0">
                <a:solidFill>
                  <a:srgbClr val="1A1712"/>
                </a:solidFill>
                <a:latin typeface="Helvetica Neue"/>
              </a:rPr>
              <a:t>2.  Add to agents.md:  'when I correct you or you learn something new, update memory.md'</a:t>
            </a:r>
          </a:p>
        </p:txBody>
      </p:sp>
      <p:sp>
        <p:nvSpPr>
          <p:cNvPr id="15" name="TextBox 14"/>
          <p:cNvSpPr txBox="1"/>
          <p:nvPr/>
        </p:nvSpPr>
        <p:spPr>
          <a:xfrm>
            <a:off x="594360" y="5294376"/>
            <a:ext cx="10972800" cy="347472"/>
          </a:xfrm>
          <a:prstGeom prst="rect">
            <a:avLst/>
          </a:prstGeom>
          <a:noFill/>
        </p:spPr>
        <p:txBody>
          <a:bodyPr wrap="square">
            <a:spAutoFit/>
          </a:bodyPr>
          <a:lstStyle/>
          <a:p>
            <a:pPr algn="l"/>
            <a:r>
              <a:rPr sz="1300" b="0" i="0">
                <a:solidFill>
                  <a:srgbClr val="1A1712"/>
                </a:solidFill>
                <a:latin typeface="Helvetica Neue"/>
              </a:rPr>
              <a:t>3.  Create a blank memory.md file in the same folder.</a:t>
            </a:r>
          </a:p>
        </p:txBody>
      </p:sp>
      <p:sp>
        <p:nvSpPr>
          <p:cNvPr id="16" name="Rectangle 15"/>
          <p:cNvSpPr/>
          <p:nvPr/>
        </p:nvSpPr>
        <p:spPr>
          <a:xfrm>
            <a:off x="411480" y="5943600"/>
            <a:ext cx="11338560" cy="548640"/>
          </a:xfrm>
          <a:prstGeom prst="rect">
            <a:avLst/>
          </a:prstGeom>
          <a:solidFill>
            <a:srgbClr val="F5C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5989320"/>
            <a:ext cx="10972800" cy="411480"/>
          </a:xfrm>
          <a:prstGeom prst="rect">
            <a:avLst/>
          </a:prstGeom>
          <a:noFill/>
        </p:spPr>
        <p:txBody>
          <a:bodyPr wrap="square">
            <a:spAutoFit/>
          </a:bodyPr>
          <a:lstStyle/>
          <a:p>
            <a:pPr algn="l"/>
            <a:r>
              <a:rPr sz="1200" b="0" i="1">
                <a:solidFill>
                  <a:srgbClr val="1A1712"/>
                </a:solidFill>
                <a:latin typeface="Helvetica Neue"/>
              </a:rPr>
              <a:t>Best practice: If memory.md gets too large, update the instruction to 'only save substantial corrections.'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5EF"/>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28600"/>
            <a:ext cx="2743200" cy="411480"/>
          </a:xfrm>
          <a:prstGeom prst="rect">
            <a:avLst/>
          </a:prstGeom>
          <a:noFill/>
        </p:spPr>
        <p:txBody>
          <a:bodyPr wrap="square">
            <a:spAutoFit/>
          </a:bodyPr>
          <a:lstStyle/>
          <a:p>
            <a:pPr algn="l"/>
            <a:r>
              <a:rPr sz="1200" b="1" i="0">
                <a:solidFill>
                  <a:srgbClr val="E86A2C"/>
                </a:solidFill>
                <a:latin typeface="Helvetica Neue"/>
              </a:rPr>
              <a:t>STEP  03</a:t>
            </a:r>
          </a:p>
        </p:txBody>
      </p:sp>
      <p:sp>
        <p:nvSpPr>
          <p:cNvPr id="4" name="TextBox 3"/>
          <p:cNvSpPr txBox="1"/>
          <p:nvPr/>
        </p:nvSpPr>
        <p:spPr>
          <a:xfrm>
            <a:off x="411480" y="548640"/>
            <a:ext cx="8229600" cy="685800"/>
          </a:xfrm>
          <a:prstGeom prst="rect">
            <a:avLst/>
          </a:prstGeom>
          <a:noFill/>
        </p:spPr>
        <p:txBody>
          <a:bodyPr wrap="square">
            <a:spAutoFit/>
          </a:bodyPr>
          <a:lstStyle/>
          <a:p>
            <a:pPr algn="l"/>
            <a:r>
              <a:rPr sz="3600" b="1" i="0">
                <a:solidFill>
                  <a:srgbClr val="1A1712"/>
                </a:solidFill>
                <a:latin typeface="Helvetica Neue"/>
              </a:rPr>
              <a:t>The Hands  —  MCP (Tools)</a:t>
            </a:r>
          </a:p>
        </p:txBody>
      </p:sp>
      <p:sp>
        <p:nvSpPr>
          <p:cNvPr id="5" name="TextBox 4"/>
          <p:cNvSpPr txBox="1"/>
          <p:nvPr/>
        </p:nvSpPr>
        <p:spPr>
          <a:xfrm>
            <a:off x="411480" y="1234440"/>
            <a:ext cx="9144000" cy="411480"/>
          </a:xfrm>
          <a:prstGeom prst="rect">
            <a:avLst/>
          </a:prstGeom>
          <a:noFill/>
        </p:spPr>
        <p:txBody>
          <a:bodyPr wrap="square">
            <a:spAutoFit/>
          </a:bodyPr>
          <a:lstStyle/>
          <a:p>
            <a:pPr algn="l"/>
            <a:r>
              <a:rPr sz="1400" b="0" i="0">
                <a:solidFill>
                  <a:srgbClr val="6B6255"/>
                </a:solidFill>
                <a:latin typeface="Helvetica Neue"/>
              </a:rPr>
              <a:t>Model Context Protocol: Anthropic's universal translator that breaks your AI out of the browser.</a:t>
            </a:r>
          </a:p>
        </p:txBody>
      </p:sp>
      <p:sp>
        <p:nvSpPr>
          <p:cNvPr id="6" name="Rectangle 5"/>
          <p:cNvSpPr/>
          <p:nvPr/>
        </p:nvSpPr>
        <p:spPr>
          <a:xfrm>
            <a:off x="411480" y="1828800"/>
            <a:ext cx="11338560" cy="91440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920240"/>
            <a:ext cx="10972800" cy="731520"/>
          </a:xfrm>
          <a:prstGeom prst="rect">
            <a:avLst/>
          </a:prstGeom>
          <a:noFill/>
        </p:spPr>
        <p:txBody>
          <a:bodyPr wrap="square">
            <a:spAutoFit/>
          </a:bodyPr>
          <a:lstStyle/>
          <a:p>
            <a:pPr algn="l"/>
            <a:r>
              <a:rPr sz="1300" b="0" i="0">
                <a:solidFill>
                  <a:srgbClr val="1A1712"/>
                </a:solidFill>
                <a:latin typeface="Helvetica Neue"/>
              </a:rPr>
              <a:t>Before MCP: your agent had to learn each tool's language separately (Notion = Spanish, Gmail = French, Slack = Chinese).
MCP sits in the middle as a universal translator — your agent speaks English, tools speak their own language.</a:t>
            </a:r>
          </a:p>
        </p:txBody>
      </p:sp>
      <p:sp>
        <p:nvSpPr>
          <p:cNvPr id="8" name="Rectangle 7"/>
          <p:cNvSpPr/>
          <p:nvPr/>
        </p:nvSpPr>
        <p:spPr>
          <a:xfrm>
            <a:off x="411480" y="2926080"/>
            <a:ext cx="1783080" cy="123444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2926080"/>
            <a:ext cx="64008" cy="12344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3035808"/>
            <a:ext cx="1600200" cy="320040"/>
          </a:xfrm>
          <a:prstGeom prst="rect">
            <a:avLst/>
          </a:prstGeom>
          <a:noFill/>
        </p:spPr>
        <p:txBody>
          <a:bodyPr wrap="square">
            <a:spAutoFit/>
          </a:bodyPr>
          <a:lstStyle/>
          <a:p>
            <a:pPr algn="l"/>
            <a:r>
              <a:rPr sz="1300" b="1" i="0">
                <a:solidFill>
                  <a:srgbClr val="E86A2C"/>
                </a:solidFill>
                <a:latin typeface="Helvetica Neue"/>
              </a:rPr>
              <a:t>Gmail</a:t>
            </a:r>
          </a:p>
        </p:txBody>
      </p:sp>
      <p:sp>
        <p:nvSpPr>
          <p:cNvPr id="11" name="TextBox 10"/>
          <p:cNvSpPr txBox="1"/>
          <p:nvPr/>
        </p:nvSpPr>
        <p:spPr>
          <a:xfrm>
            <a:off x="548640" y="3364992"/>
            <a:ext cx="1600200" cy="685800"/>
          </a:xfrm>
          <a:prstGeom prst="rect">
            <a:avLst/>
          </a:prstGeom>
          <a:noFill/>
        </p:spPr>
        <p:txBody>
          <a:bodyPr wrap="square">
            <a:spAutoFit/>
          </a:bodyPr>
          <a:lstStyle/>
          <a:p>
            <a:pPr algn="l"/>
            <a:r>
              <a:rPr sz="1100" b="0" i="0">
                <a:solidFill>
                  <a:srgbClr val="6B6255"/>
                </a:solidFill>
                <a:latin typeface="Helvetica Neue"/>
              </a:rPr>
              <a:t>Summarise inbox, draft replies, triage</a:t>
            </a:r>
          </a:p>
        </p:txBody>
      </p:sp>
      <p:sp>
        <p:nvSpPr>
          <p:cNvPr id="12" name="Rectangle 11"/>
          <p:cNvSpPr/>
          <p:nvPr/>
        </p:nvSpPr>
        <p:spPr>
          <a:xfrm>
            <a:off x="2441448" y="2926080"/>
            <a:ext cx="1783080" cy="123444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441448" y="2926080"/>
            <a:ext cx="64008" cy="12344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78608" y="3035808"/>
            <a:ext cx="1600200" cy="320040"/>
          </a:xfrm>
          <a:prstGeom prst="rect">
            <a:avLst/>
          </a:prstGeom>
          <a:noFill/>
        </p:spPr>
        <p:txBody>
          <a:bodyPr wrap="square">
            <a:spAutoFit/>
          </a:bodyPr>
          <a:lstStyle/>
          <a:p>
            <a:pPr algn="l"/>
            <a:r>
              <a:rPr sz="1300" b="1" i="0">
                <a:solidFill>
                  <a:srgbClr val="E86A2C"/>
                </a:solidFill>
                <a:latin typeface="Helvetica Neue"/>
              </a:rPr>
              <a:t>Google Calendar</a:t>
            </a:r>
          </a:p>
        </p:txBody>
      </p:sp>
      <p:sp>
        <p:nvSpPr>
          <p:cNvPr id="15" name="TextBox 14"/>
          <p:cNvSpPr txBox="1"/>
          <p:nvPr/>
        </p:nvSpPr>
        <p:spPr>
          <a:xfrm>
            <a:off x="2578608" y="3364992"/>
            <a:ext cx="1600200" cy="685800"/>
          </a:xfrm>
          <a:prstGeom prst="rect">
            <a:avLst/>
          </a:prstGeom>
          <a:noFill/>
        </p:spPr>
        <p:txBody>
          <a:bodyPr wrap="square">
            <a:spAutoFit/>
          </a:bodyPr>
          <a:lstStyle/>
          <a:p>
            <a:pPr algn="l"/>
            <a:r>
              <a:rPr sz="1100" b="0" i="0">
                <a:solidFill>
                  <a:srgbClr val="6B6255"/>
                </a:solidFill>
                <a:latin typeface="Helvetica Neue"/>
              </a:rPr>
              <a:t>Check availability, schedule meetings</a:t>
            </a:r>
          </a:p>
        </p:txBody>
      </p:sp>
      <p:sp>
        <p:nvSpPr>
          <p:cNvPr id="16" name="Rectangle 15"/>
          <p:cNvSpPr/>
          <p:nvPr/>
        </p:nvSpPr>
        <p:spPr>
          <a:xfrm>
            <a:off x="4471416" y="2926080"/>
            <a:ext cx="1783080" cy="123444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471416" y="2926080"/>
            <a:ext cx="64008" cy="12344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08576" y="3035808"/>
            <a:ext cx="1600200" cy="320040"/>
          </a:xfrm>
          <a:prstGeom prst="rect">
            <a:avLst/>
          </a:prstGeom>
          <a:noFill/>
        </p:spPr>
        <p:txBody>
          <a:bodyPr wrap="square">
            <a:spAutoFit/>
          </a:bodyPr>
          <a:lstStyle/>
          <a:p>
            <a:pPr algn="l"/>
            <a:r>
              <a:rPr sz="1300" b="1" i="0">
                <a:solidFill>
                  <a:srgbClr val="E86A2C"/>
                </a:solidFill>
                <a:latin typeface="Helvetica Neue"/>
              </a:rPr>
              <a:t>Notion</a:t>
            </a:r>
          </a:p>
        </p:txBody>
      </p:sp>
      <p:sp>
        <p:nvSpPr>
          <p:cNvPr id="19" name="TextBox 18"/>
          <p:cNvSpPr txBox="1"/>
          <p:nvPr/>
        </p:nvSpPr>
        <p:spPr>
          <a:xfrm>
            <a:off x="4608576" y="3364992"/>
            <a:ext cx="1600200" cy="685800"/>
          </a:xfrm>
          <a:prstGeom prst="rect">
            <a:avLst/>
          </a:prstGeom>
          <a:noFill/>
        </p:spPr>
        <p:txBody>
          <a:bodyPr wrap="square">
            <a:spAutoFit/>
          </a:bodyPr>
          <a:lstStyle/>
          <a:p>
            <a:pPr algn="l"/>
            <a:r>
              <a:rPr sz="1100" b="0" i="0">
                <a:solidFill>
                  <a:srgbClr val="6B6255"/>
                </a:solidFill>
                <a:latin typeface="Helvetica Neue"/>
              </a:rPr>
              <a:t>Read/write docs and databases</a:t>
            </a:r>
          </a:p>
        </p:txBody>
      </p:sp>
      <p:sp>
        <p:nvSpPr>
          <p:cNvPr id="20" name="Rectangle 19"/>
          <p:cNvSpPr/>
          <p:nvPr/>
        </p:nvSpPr>
        <p:spPr>
          <a:xfrm>
            <a:off x="411480" y="4343400"/>
            <a:ext cx="1783080" cy="123444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11480" y="4343400"/>
            <a:ext cx="64008" cy="12344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4453128"/>
            <a:ext cx="1600200" cy="320040"/>
          </a:xfrm>
          <a:prstGeom prst="rect">
            <a:avLst/>
          </a:prstGeom>
          <a:noFill/>
        </p:spPr>
        <p:txBody>
          <a:bodyPr wrap="square">
            <a:spAutoFit/>
          </a:bodyPr>
          <a:lstStyle/>
          <a:p>
            <a:pPr algn="l"/>
            <a:r>
              <a:rPr sz="1300" b="1" i="0">
                <a:solidFill>
                  <a:srgbClr val="E86A2C"/>
                </a:solidFill>
                <a:latin typeface="Helvetica Neue"/>
              </a:rPr>
              <a:t>Stripe</a:t>
            </a:r>
          </a:p>
        </p:txBody>
      </p:sp>
      <p:sp>
        <p:nvSpPr>
          <p:cNvPr id="23" name="TextBox 22"/>
          <p:cNvSpPr txBox="1"/>
          <p:nvPr/>
        </p:nvSpPr>
        <p:spPr>
          <a:xfrm>
            <a:off x="548640" y="4782312"/>
            <a:ext cx="1600200" cy="685800"/>
          </a:xfrm>
          <a:prstGeom prst="rect">
            <a:avLst/>
          </a:prstGeom>
          <a:noFill/>
        </p:spPr>
        <p:txBody>
          <a:bodyPr wrap="square">
            <a:spAutoFit/>
          </a:bodyPr>
          <a:lstStyle/>
          <a:p>
            <a:pPr algn="l"/>
            <a:r>
              <a:rPr sz="1100" b="0" i="0">
                <a:solidFill>
                  <a:srgbClr val="6B6255"/>
                </a:solidFill>
                <a:latin typeface="Helvetica Neue"/>
              </a:rPr>
              <a:t>Generate payment links</a:t>
            </a:r>
          </a:p>
        </p:txBody>
      </p:sp>
      <p:sp>
        <p:nvSpPr>
          <p:cNvPr id="24" name="Rectangle 23"/>
          <p:cNvSpPr/>
          <p:nvPr/>
        </p:nvSpPr>
        <p:spPr>
          <a:xfrm>
            <a:off x="2441448" y="4343400"/>
            <a:ext cx="1783080" cy="123444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441448" y="4343400"/>
            <a:ext cx="64008" cy="12344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78608" y="4453128"/>
            <a:ext cx="1600200" cy="320040"/>
          </a:xfrm>
          <a:prstGeom prst="rect">
            <a:avLst/>
          </a:prstGeom>
          <a:noFill/>
        </p:spPr>
        <p:txBody>
          <a:bodyPr wrap="square">
            <a:spAutoFit/>
          </a:bodyPr>
          <a:lstStyle/>
          <a:p>
            <a:pPr algn="l"/>
            <a:r>
              <a:rPr sz="1300" b="1" i="0">
                <a:solidFill>
                  <a:srgbClr val="E86A2C"/>
                </a:solidFill>
                <a:latin typeface="Helvetica Neue"/>
              </a:rPr>
              <a:t>Granola</a:t>
            </a:r>
          </a:p>
        </p:txBody>
      </p:sp>
      <p:sp>
        <p:nvSpPr>
          <p:cNvPr id="27" name="TextBox 26"/>
          <p:cNvSpPr txBox="1"/>
          <p:nvPr/>
        </p:nvSpPr>
        <p:spPr>
          <a:xfrm>
            <a:off x="2578608" y="4782312"/>
            <a:ext cx="1600200" cy="685800"/>
          </a:xfrm>
          <a:prstGeom prst="rect">
            <a:avLst/>
          </a:prstGeom>
          <a:noFill/>
        </p:spPr>
        <p:txBody>
          <a:bodyPr wrap="square">
            <a:spAutoFit/>
          </a:bodyPr>
          <a:lstStyle/>
          <a:p>
            <a:pPr algn="l"/>
            <a:r>
              <a:rPr sz="1100" b="0" i="0">
                <a:solidFill>
                  <a:srgbClr val="6B6255"/>
                </a:solidFill>
                <a:latin typeface="Helvetica Neue"/>
              </a:rPr>
              <a:t>Pull meeting notes</a:t>
            </a:r>
          </a:p>
        </p:txBody>
      </p:sp>
      <p:sp>
        <p:nvSpPr>
          <p:cNvPr id="28" name="Rectangle 27"/>
          <p:cNvSpPr/>
          <p:nvPr/>
        </p:nvSpPr>
        <p:spPr>
          <a:xfrm>
            <a:off x="4471416" y="4343400"/>
            <a:ext cx="1783080" cy="123444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471416" y="4343400"/>
            <a:ext cx="64008" cy="123444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08576" y="4453128"/>
            <a:ext cx="1600200" cy="320040"/>
          </a:xfrm>
          <a:prstGeom prst="rect">
            <a:avLst/>
          </a:prstGeom>
          <a:noFill/>
        </p:spPr>
        <p:txBody>
          <a:bodyPr wrap="square">
            <a:spAutoFit/>
          </a:bodyPr>
          <a:lstStyle/>
          <a:p>
            <a:pPr algn="l"/>
            <a:r>
              <a:rPr sz="1300" b="1" i="0">
                <a:solidFill>
                  <a:srgbClr val="E86A2C"/>
                </a:solidFill>
                <a:latin typeface="Helvetica Neue"/>
              </a:rPr>
              <a:t>Web Search</a:t>
            </a:r>
          </a:p>
        </p:txBody>
      </p:sp>
      <p:sp>
        <p:nvSpPr>
          <p:cNvPr id="31" name="TextBox 30"/>
          <p:cNvSpPr txBox="1"/>
          <p:nvPr/>
        </p:nvSpPr>
        <p:spPr>
          <a:xfrm>
            <a:off x="4608576" y="4782312"/>
            <a:ext cx="1600200" cy="685800"/>
          </a:xfrm>
          <a:prstGeom prst="rect">
            <a:avLst/>
          </a:prstGeom>
          <a:noFill/>
        </p:spPr>
        <p:txBody>
          <a:bodyPr wrap="square">
            <a:spAutoFit/>
          </a:bodyPr>
          <a:lstStyle/>
          <a:p>
            <a:pPr algn="l"/>
            <a:r>
              <a:rPr sz="1100" b="0" i="0">
                <a:solidFill>
                  <a:srgbClr val="6B6255"/>
                </a:solidFill>
                <a:latin typeface="Helvetica Neue"/>
              </a:rPr>
              <a:t>Included by default in most harnesses</a:t>
            </a:r>
          </a:p>
        </p:txBody>
      </p:sp>
      <p:sp>
        <p:nvSpPr>
          <p:cNvPr id="32" name="Rectangle 31"/>
          <p:cNvSpPr/>
          <p:nvPr/>
        </p:nvSpPr>
        <p:spPr>
          <a:xfrm>
            <a:off x="6035040" y="2926080"/>
            <a:ext cx="5669280" cy="2651760"/>
          </a:xfrm>
          <a:prstGeom prst="rect">
            <a:avLst/>
          </a:prstGeom>
          <a:solidFill>
            <a:srgbClr val="F5C499"/>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0" y="3017520"/>
            <a:ext cx="5394960" cy="384048"/>
          </a:xfrm>
          <a:prstGeom prst="rect">
            <a:avLst/>
          </a:prstGeom>
          <a:noFill/>
        </p:spPr>
        <p:txBody>
          <a:bodyPr wrap="square">
            <a:spAutoFit/>
          </a:bodyPr>
          <a:lstStyle/>
          <a:p>
            <a:pPr algn="l"/>
            <a:r>
              <a:rPr sz="1400" b="1" i="0">
                <a:solidFill>
                  <a:srgbClr val="1A1712"/>
                </a:solidFill>
                <a:latin typeface="Helvetica Neue"/>
              </a:rPr>
              <a:t>Real demo (one prompt):</a:t>
            </a:r>
          </a:p>
        </p:txBody>
      </p:sp>
      <p:sp>
        <p:nvSpPr>
          <p:cNvPr id="34" name="TextBox 33"/>
          <p:cNvSpPr txBox="1"/>
          <p:nvPr/>
        </p:nvSpPr>
        <p:spPr>
          <a:xfrm>
            <a:off x="6217920" y="3429000"/>
            <a:ext cx="5394960" cy="2011680"/>
          </a:xfrm>
          <a:prstGeom prst="rect">
            <a:avLst/>
          </a:prstGeom>
          <a:noFill/>
        </p:spPr>
        <p:txBody>
          <a:bodyPr wrap="square">
            <a:spAutoFit/>
          </a:bodyPr>
          <a:lstStyle/>
          <a:p>
            <a:pPr algn="l"/>
            <a:r>
              <a:rPr sz="1300" b="0" i="0">
                <a:solidFill>
                  <a:srgbClr val="1A1712"/>
                </a:solidFill>
                <a:latin typeface="Helvetica Neue"/>
              </a:rPr>
              <a:t>"Summarise my inbox → pull meeting notes from Granola → create a Stripe payment link → set up a Notion project → draft a follow-up email."
One prompt. Five tools. Zero tab-switching.</a:t>
            </a:r>
          </a:p>
        </p:txBody>
      </p:sp>
      <p:sp>
        <p:nvSpPr>
          <p:cNvPr id="35" name="Rectangle 34"/>
          <p:cNvSpPr/>
          <p:nvPr/>
        </p:nvSpPr>
        <p:spPr>
          <a:xfrm>
            <a:off x="411480" y="5943600"/>
            <a:ext cx="11338560" cy="548640"/>
          </a:xfrm>
          <a:prstGeom prst="rect">
            <a:avLst/>
          </a:prstGeom>
          <a:solidFill>
            <a:srgbClr val="1A1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 y="5989320"/>
            <a:ext cx="10972800" cy="411480"/>
          </a:xfrm>
          <a:prstGeom prst="rect">
            <a:avLst/>
          </a:prstGeom>
          <a:noFill/>
        </p:spPr>
        <p:txBody>
          <a:bodyPr wrap="square">
            <a:spAutoFit/>
          </a:bodyPr>
          <a:lstStyle/>
          <a:p>
            <a:pPr algn="l"/>
            <a:r>
              <a:rPr sz="1200" b="0" i="1">
                <a:solidFill>
                  <a:srgbClr val="F9F5EF"/>
                </a:solidFill>
                <a:latin typeface="Helvetica Neue"/>
              </a:rPr>
              <a:t>"Even if you just do something 7× faster without going into all these tools, it really starts to compound."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5EF"/>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28600"/>
            <a:ext cx="2743200" cy="411480"/>
          </a:xfrm>
          <a:prstGeom prst="rect">
            <a:avLst/>
          </a:prstGeom>
          <a:noFill/>
        </p:spPr>
        <p:txBody>
          <a:bodyPr wrap="square">
            <a:spAutoFit/>
          </a:bodyPr>
          <a:lstStyle/>
          <a:p>
            <a:pPr algn="l"/>
            <a:r>
              <a:rPr sz="1200" b="1" i="0">
                <a:solidFill>
                  <a:srgbClr val="E86A2C"/>
                </a:solidFill>
                <a:latin typeface="Helvetica Neue"/>
              </a:rPr>
              <a:t>STEP  04</a:t>
            </a:r>
          </a:p>
        </p:txBody>
      </p:sp>
      <p:sp>
        <p:nvSpPr>
          <p:cNvPr id="4" name="TextBox 3"/>
          <p:cNvSpPr txBox="1"/>
          <p:nvPr/>
        </p:nvSpPr>
        <p:spPr>
          <a:xfrm>
            <a:off x="411479" y="559273"/>
            <a:ext cx="10199813" cy="646331"/>
          </a:xfrm>
          <a:prstGeom prst="rect">
            <a:avLst/>
          </a:prstGeom>
          <a:noFill/>
        </p:spPr>
        <p:txBody>
          <a:bodyPr wrap="square">
            <a:spAutoFit/>
          </a:bodyPr>
          <a:lstStyle/>
          <a:p>
            <a:pPr algn="l"/>
            <a:r>
              <a:rPr sz="3600" b="1" i="0" dirty="0">
                <a:solidFill>
                  <a:srgbClr val="1A1712"/>
                </a:solidFill>
                <a:latin typeface="Helvetica Neue"/>
              </a:rPr>
              <a:t>The Habits  —  .skill files (SOPs for AI)</a:t>
            </a:r>
          </a:p>
        </p:txBody>
      </p:sp>
      <p:sp>
        <p:nvSpPr>
          <p:cNvPr id="5" name="TextBox 4"/>
          <p:cNvSpPr txBox="1"/>
          <p:nvPr/>
        </p:nvSpPr>
        <p:spPr>
          <a:xfrm>
            <a:off x="411480" y="1234440"/>
            <a:ext cx="9144000" cy="411480"/>
          </a:xfrm>
          <a:prstGeom prst="rect">
            <a:avLst/>
          </a:prstGeom>
          <a:noFill/>
        </p:spPr>
        <p:txBody>
          <a:bodyPr wrap="square">
            <a:spAutoFit/>
          </a:bodyPr>
          <a:lstStyle/>
          <a:p>
            <a:pPr algn="l"/>
            <a:r>
              <a:rPr sz="1400" b="0" i="0">
                <a:solidFill>
                  <a:srgbClr val="6B6255"/>
                </a:solidFill>
                <a:latin typeface="Helvetica Neue"/>
              </a:rPr>
              <a:t>Explain a process once. Package it. Never start from scratch again.</a:t>
            </a:r>
          </a:p>
        </p:txBody>
      </p:sp>
      <p:sp>
        <p:nvSpPr>
          <p:cNvPr id="6" name="Rectangle 5"/>
          <p:cNvSpPr/>
          <p:nvPr/>
        </p:nvSpPr>
        <p:spPr>
          <a:xfrm>
            <a:off x="411480" y="1828800"/>
            <a:ext cx="5394960" cy="192024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920240"/>
            <a:ext cx="5120640" cy="347472"/>
          </a:xfrm>
          <a:prstGeom prst="rect">
            <a:avLst/>
          </a:prstGeom>
          <a:noFill/>
        </p:spPr>
        <p:txBody>
          <a:bodyPr wrap="square">
            <a:spAutoFit/>
          </a:bodyPr>
          <a:lstStyle/>
          <a:p>
            <a:pPr algn="l"/>
            <a:r>
              <a:rPr sz="1400" b="1" i="0">
                <a:solidFill>
                  <a:srgbClr val="6B6255"/>
                </a:solidFill>
                <a:latin typeface="Helvetica Neue"/>
              </a:rPr>
              <a:t>Without a skill</a:t>
            </a:r>
          </a:p>
        </p:txBody>
      </p:sp>
      <p:sp>
        <p:nvSpPr>
          <p:cNvPr id="8" name="TextBox 7"/>
          <p:cNvSpPr txBox="1"/>
          <p:nvPr/>
        </p:nvSpPr>
        <p:spPr>
          <a:xfrm>
            <a:off x="594360" y="2286000"/>
            <a:ext cx="5120640" cy="1371600"/>
          </a:xfrm>
          <a:prstGeom prst="rect">
            <a:avLst/>
          </a:prstGeom>
          <a:noFill/>
        </p:spPr>
        <p:txBody>
          <a:bodyPr wrap="square">
            <a:spAutoFit/>
          </a:bodyPr>
          <a:lstStyle/>
          <a:p>
            <a:pPr algn="l"/>
            <a:r>
              <a:rPr sz="1300" b="0" i="0">
                <a:solidFill>
                  <a:srgbClr val="1A1712"/>
                </a:solidFill>
                <a:latin typeface="Helvetica Neue"/>
              </a:rPr>
              <a:t>Write a client proposal → 30 min of back-and-forth.
Change formatting. Move price. Use this shade of blue.
You finally land on something. Next week: start from scratch.</a:t>
            </a:r>
          </a:p>
        </p:txBody>
      </p:sp>
      <p:sp>
        <p:nvSpPr>
          <p:cNvPr id="9" name="Rectangle 8"/>
          <p:cNvSpPr/>
          <p:nvPr/>
        </p:nvSpPr>
        <p:spPr>
          <a:xfrm>
            <a:off x="6126480" y="1828800"/>
            <a:ext cx="5394960" cy="1920240"/>
          </a:xfrm>
          <a:prstGeom prst="rect">
            <a:avLst/>
          </a:prstGeom>
          <a:solidFill>
            <a:srgbClr val="F5C499"/>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920240"/>
            <a:ext cx="5120640" cy="347472"/>
          </a:xfrm>
          <a:prstGeom prst="rect">
            <a:avLst/>
          </a:prstGeom>
          <a:noFill/>
        </p:spPr>
        <p:txBody>
          <a:bodyPr wrap="square">
            <a:spAutoFit/>
          </a:bodyPr>
          <a:lstStyle/>
          <a:p>
            <a:pPr algn="l"/>
            <a:r>
              <a:rPr sz="1400" b="1" i="0">
                <a:solidFill>
                  <a:srgbClr val="E86A2C"/>
                </a:solidFill>
                <a:latin typeface="Helvetica Neue"/>
              </a:rPr>
              <a:t>With a skill</a:t>
            </a:r>
          </a:p>
        </p:txBody>
      </p:sp>
      <p:sp>
        <p:nvSpPr>
          <p:cNvPr id="11" name="TextBox 10"/>
          <p:cNvSpPr txBox="1"/>
          <p:nvPr/>
        </p:nvSpPr>
        <p:spPr>
          <a:xfrm>
            <a:off x="6309360" y="2286000"/>
            <a:ext cx="5120640" cy="1371600"/>
          </a:xfrm>
          <a:prstGeom prst="rect">
            <a:avLst/>
          </a:prstGeom>
          <a:noFill/>
        </p:spPr>
        <p:txBody>
          <a:bodyPr wrap="square">
            <a:spAutoFit/>
          </a:bodyPr>
          <a:lstStyle/>
          <a:p>
            <a:pPr algn="l"/>
            <a:r>
              <a:rPr sz="1300" b="0" i="0">
                <a:solidFill>
                  <a:srgbClr val="1A1712"/>
                </a:solidFill>
                <a:latin typeface="Helvetica Neue"/>
              </a:rPr>
              <a:t>Agent loads your proposal skill. It already knows the format, the colors, where the price goes.
Done in minutes. Every time.</a:t>
            </a:r>
          </a:p>
        </p:txBody>
      </p:sp>
      <p:sp>
        <p:nvSpPr>
          <p:cNvPr id="12" name="TextBox 11"/>
          <p:cNvSpPr txBox="1"/>
          <p:nvPr/>
        </p:nvSpPr>
        <p:spPr>
          <a:xfrm>
            <a:off x="411480" y="3931920"/>
            <a:ext cx="10972800" cy="384048"/>
          </a:xfrm>
          <a:prstGeom prst="rect">
            <a:avLst/>
          </a:prstGeom>
          <a:noFill/>
        </p:spPr>
        <p:txBody>
          <a:bodyPr wrap="square">
            <a:spAutoFit/>
          </a:bodyPr>
          <a:lstStyle/>
          <a:p>
            <a:pPr algn="l"/>
            <a:r>
              <a:rPr sz="1400" b="1" i="0">
                <a:solidFill>
                  <a:srgbClr val="1A1712"/>
                </a:solidFill>
                <a:latin typeface="Helvetica Neue"/>
              </a:rPr>
              <a:t>Two ways to create a skill:</a:t>
            </a:r>
          </a:p>
        </p:txBody>
      </p:sp>
      <p:sp>
        <p:nvSpPr>
          <p:cNvPr id="13" name="Rectangle 12"/>
          <p:cNvSpPr/>
          <p:nvPr/>
        </p:nvSpPr>
        <p:spPr>
          <a:xfrm>
            <a:off x="411480" y="4389120"/>
            <a:ext cx="5486400" cy="137160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1480" y="4389120"/>
            <a:ext cx="64008" cy="137160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4480560"/>
            <a:ext cx="5303520" cy="347472"/>
          </a:xfrm>
          <a:prstGeom prst="rect">
            <a:avLst/>
          </a:prstGeom>
          <a:noFill/>
        </p:spPr>
        <p:txBody>
          <a:bodyPr wrap="square">
            <a:spAutoFit/>
          </a:bodyPr>
          <a:lstStyle/>
          <a:p>
            <a:pPr algn="l"/>
            <a:r>
              <a:rPr sz="1300" b="1" i="0">
                <a:solidFill>
                  <a:srgbClr val="E86A2C"/>
                </a:solidFill>
                <a:latin typeface="Helvetica Neue"/>
              </a:rPr>
              <a:t>Method 1 — Feed it source material</a:t>
            </a:r>
          </a:p>
        </p:txBody>
      </p:sp>
      <p:sp>
        <p:nvSpPr>
          <p:cNvPr id="16" name="TextBox 15"/>
          <p:cNvSpPr txBox="1"/>
          <p:nvPr/>
        </p:nvSpPr>
        <p:spPr>
          <a:xfrm>
            <a:off x="548640" y="4846320"/>
            <a:ext cx="5303520" cy="822960"/>
          </a:xfrm>
          <a:prstGeom prst="rect">
            <a:avLst/>
          </a:prstGeom>
          <a:noFill/>
        </p:spPr>
        <p:txBody>
          <a:bodyPr wrap="square">
            <a:spAutoFit/>
          </a:bodyPr>
          <a:lstStyle/>
          <a:p>
            <a:pPr algn="l"/>
            <a:r>
              <a:rPr sz="1200" b="0" i="0">
                <a:solidFill>
                  <a:srgbClr val="6B6255"/>
                </a:solidFill>
                <a:latin typeface="Helvetica Neue"/>
              </a:rPr>
              <a:t>Upload a course transcript, doc, or example. Say 'build me a skill based on this.' The agent packages it into a .skill file with instructions and reference material.</a:t>
            </a:r>
          </a:p>
        </p:txBody>
      </p:sp>
      <p:sp>
        <p:nvSpPr>
          <p:cNvPr id="17" name="Rectangle 16"/>
          <p:cNvSpPr/>
          <p:nvPr/>
        </p:nvSpPr>
        <p:spPr>
          <a:xfrm>
            <a:off x="6126480" y="4389120"/>
            <a:ext cx="5486400" cy="1371600"/>
          </a:xfrm>
          <a:prstGeom prst="rect">
            <a:avLst/>
          </a:prstGeom>
          <a:solidFill>
            <a:srgbClr val="FFFFFF"/>
          </a:solidFill>
          <a:ln w="1270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4389120"/>
            <a:ext cx="64008" cy="137160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4480560"/>
            <a:ext cx="5303520" cy="347472"/>
          </a:xfrm>
          <a:prstGeom prst="rect">
            <a:avLst/>
          </a:prstGeom>
          <a:noFill/>
        </p:spPr>
        <p:txBody>
          <a:bodyPr wrap="square">
            <a:spAutoFit/>
          </a:bodyPr>
          <a:lstStyle/>
          <a:p>
            <a:pPr algn="l"/>
            <a:r>
              <a:rPr sz="1300" b="1" i="0">
                <a:solidFill>
                  <a:srgbClr val="E86A2C"/>
                </a:solidFill>
                <a:latin typeface="Helvetica Neue"/>
              </a:rPr>
              <a:t>Method 2 — Build from a live session</a:t>
            </a:r>
          </a:p>
        </p:txBody>
      </p:sp>
      <p:sp>
        <p:nvSpPr>
          <p:cNvPr id="20" name="TextBox 19"/>
          <p:cNvSpPr txBox="1"/>
          <p:nvPr/>
        </p:nvSpPr>
        <p:spPr>
          <a:xfrm>
            <a:off x="6263640" y="4846320"/>
            <a:ext cx="5303520" cy="822960"/>
          </a:xfrm>
          <a:prstGeom prst="rect">
            <a:avLst/>
          </a:prstGeom>
          <a:noFill/>
        </p:spPr>
        <p:txBody>
          <a:bodyPr wrap="square">
            <a:spAutoFit/>
          </a:bodyPr>
          <a:lstStyle/>
          <a:p>
            <a:pPr algn="l"/>
            <a:r>
              <a:rPr sz="1200" b="0" i="0">
                <a:solidFill>
                  <a:srgbClr val="6B6255"/>
                </a:solidFill>
                <a:latin typeface="Helvetica Neue"/>
              </a:rPr>
              <a:t>Go through a process manually with the agent. Once happy, say 'create a skill for what we just did.' It packages the entire workflow. Remy's ad library analysis skill: was 3–4 hrs → now two words and it runs.</a:t>
            </a:r>
          </a:p>
        </p:txBody>
      </p:sp>
      <p:sp>
        <p:nvSpPr>
          <p:cNvPr id="21" name="Rectangle 20"/>
          <p:cNvSpPr/>
          <p:nvPr/>
        </p:nvSpPr>
        <p:spPr>
          <a:xfrm>
            <a:off x="411480" y="5943600"/>
            <a:ext cx="11338560" cy="548640"/>
          </a:xfrm>
          <a:prstGeom prst="rect">
            <a:avLst/>
          </a:prstGeom>
          <a:solidFill>
            <a:srgbClr val="F5C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5989320"/>
            <a:ext cx="10972800" cy="411480"/>
          </a:xfrm>
          <a:prstGeom prst="rect">
            <a:avLst/>
          </a:prstGeom>
          <a:noFill/>
        </p:spPr>
        <p:txBody>
          <a:bodyPr wrap="square">
            <a:spAutoFit/>
          </a:bodyPr>
          <a:lstStyle/>
          <a:p>
            <a:pPr algn="l"/>
            <a:r>
              <a:rPr sz="1200" b="1" i="0">
                <a:solidFill>
                  <a:srgbClr val="1A1712"/>
                </a:solidFill>
                <a:latin typeface="Helvetica Neue"/>
              </a:rPr>
              <a:t>If you automate 3–5 tiny manual processes each week with skills, you eventually automate your entire workflow.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5EF"/>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28600"/>
            <a:ext cx="2743200" cy="411480"/>
          </a:xfrm>
          <a:prstGeom prst="rect">
            <a:avLst/>
          </a:prstGeom>
          <a:noFill/>
        </p:spPr>
        <p:txBody>
          <a:bodyPr wrap="square">
            <a:spAutoFit/>
          </a:bodyPr>
          <a:lstStyle/>
          <a:p>
            <a:pPr algn="l"/>
            <a:r>
              <a:rPr sz="1200" b="1" i="0">
                <a:solidFill>
                  <a:srgbClr val="E86A2C"/>
                </a:solidFill>
                <a:latin typeface="Helvetica Neue"/>
              </a:rPr>
              <a:t>STEP  05</a:t>
            </a:r>
          </a:p>
        </p:txBody>
      </p:sp>
      <p:sp>
        <p:nvSpPr>
          <p:cNvPr id="4" name="TextBox 3"/>
          <p:cNvSpPr txBox="1"/>
          <p:nvPr/>
        </p:nvSpPr>
        <p:spPr>
          <a:xfrm>
            <a:off x="411480" y="548640"/>
            <a:ext cx="9144000" cy="685800"/>
          </a:xfrm>
          <a:prstGeom prst="rect">
            <a:avLst/>
          </a:prstGeom>
          <a:noFill/>
        </p:spPr>
        <p:txBody>
          <a:bodyPr wrap="square">
            <a:spAutoFit/>
          </a:bodyPr>
          <a:lstStyle/>
          <a:p>
            <a:pPr algn="l"/>
            <a:r>
              <a:rPr sz="3600" b="1" i="0">
                <a:solidFill>
                  <a:srgbClr val="1A1712"/>
                </a:solidFill>
                <a:latin typeface="Helvetica Neue"/>
              </a:rPr>
              <a:t>Chain Skills &amp; Schedule Tasks</a:t>
            </a:r>
          </a:p>
        </p:txBody>
      </p:sp>
      <p:sp>
        <p:nvSpPr>
          <p:cNvPr id="5" name="TextBox 4"/>
          <p:cNvSpPr txBox="1"/>
          <p:nvPr/>
        </p:nvSpPr>
        <p:spPr>
          <a:xfrm>
            <a:off x="411480" y="1234440"/>
            <a:ext cx="9144000" cy="411480"/>
          </a:xfrm>
          <a:prstGeom prst="rect">
            <a:avLst/>
          </a:prstGeom>
          <a:noFill/>
        </p:spPr>
        <p:txBody>
          <a:bodyPr wrap="square">
            <a:spAutoFit/>
          </a:bodyPr>
          <a:lstStyle/>
          <a:p>
            <a:pPr algn="l"/>
            <a:r>
              <a:rPr sz="1400" b="0" i="0">
                <a:solidFill>
                  <a:srgbClr val="6B6255"/>
                </a:solidFill>
                <a:latin typeface="Helvetica Neue"/>
              </a:rPr>
              <a:t>Skills get powerful when you combine them. The compounding engine.</a:t>
            </a:r>
          </a:p>
        </p:txBody>
      </p:sp>
      <p:sp>
        <p:nvSpPr>
          <p:cNvPr id="6" name="Rectangle 5"/>
          <p:cNvSpPr/>
          <p:nvPr/>
        </p:nvSpPr>
        <p:spPr>
          <a:xfrm>
            <a:off x="411480" y="1920240"/>
            <a:ext cx="3200400" cy="182880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920240"/>
            <a:ext cx="3200400" cy="64008"/>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057400"/>
            <a:ext cx="3017520" cy="384048"/>
          </a:xfrm>
          <a:prstGeom prst="rect">
            <a:avLst/>
          </a:prstGeom>
          <a:noFill/>
        </p:spPr>
        <p:txBody>
          <a:bodyPr wrap="square">
            <a:spAutoFit/>
          </a:bodyPr>
          <a:lstStyle/>
          <a:p>
            <a:pPr algn="l"/>
            <a:r>
              <a:rPr sz="1400" b="1" i="0">
                <a:solidFill>
                  <a:srgbClr val="E86A2C"/>
                </a:solidFill>
                <a:latin typeface="Helvetica Neue"/>
              </a:rPr>
              <a:t>Meeting Prep Skill</a:t>
            </a:r>
          </a:p>
        </p:txBody>
      </p:sp>
      <p:sp>
        <p:nvSpPr>
          <p:cNvPr id="9" name="TextBox 8"/>
          <p:cNvSpPr txBox="1"/>
          <p:nvPr/>
        </p:nvSpPr>
        <p:spPr>
          <a:xfrm>
            <a:off x="548640" y="2468880"/>
            <a:ext cx="3017520" cy="1143000"/>
          </a:xfrm>
          <a:prstGeom prst="rect">
            <a:avLst/>
          </a:prstGeom>
          <a:noFill/>
        </p:spPr>
        <p:txBody>
          <a:bodyPr wrap="square">
            <a:spAutoFit/>
          </a:bodyPr>
          <a:lstStyle/>
          <a:p>
            <a:pPr algn="l"/>
            <a:r>
              <a:rPr sz="1300" b="0" i="0">
                <a:solidFill>
                  <a:srgbClr val="6B6255"/>
                </a:solidFill>
                <a:latin typeface="Helvetica Neue"/>
              </a:rPr>
              <a:t>Researches the guest and compiles talking points before any call.</a:t>
            </a:r>
          </a:p>
        </p:txBody>
      </p:sp>
      <p:sp>
        <p:nvSpPr>
          <p:cNvPr id="10" name="TextBox 9"/>
          <p:cNvSpPr txBox="1"/>
          <p:nvPr/>
        </p:nvSpPr>
        <p:spPr>
          <a:xfrm>
            <a:off x="3657600" y="2651760"/>
            <a:ext cx="320040" cy="365760"/>
          </a:xfrm>
          <a:prstGeom prst="rect">
            <a:avLst/>
          </a:prstGeom>
          <a:noFill/>
        </p:spPr>
        <p:txBody>
          <a:bodyPr wrap="square">
            <a:spAutoFit/>
          </a:bodyPr>
          <a:lstStyle/>
          <a:p>
            <a:pPr algn="l"/>
            <a:r>
              <a:rPr sz="2400" b="1" i="0">
                <a:solidFill>
                  <a:srgbClr val="E86A2C"/>
                </a:solidFill>
                <a:latin typeface="Helvetica Neue"/>
              </a:rPr>
              <a:t>→</a:t>
            </a:r>
          </a:p>
        </p:txBody>
      </p:sp>
      <p:sp>
        <p:nvSpPr>
          <p:cNvPr id="11" name="Rectangle 10"/>
          <p:cNvSpPr/>
          <p:nvPr/>
        </p:nvSpPr>
        <p:spPr>
          <a:xfrm>
            <a:off x="4023360" y="1920240"/>
            <a:ext cx="3200400" cy="182880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23360" y="1920240"/>
            <a:ext cx="3200400" cy="64008"/>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60520" y="2057400"/>
            <a:ext cx="3017520" cy="384048"/>
          </a:xfrm>
          <a:prstGeom prst="rect">
            <a:avLst/>
          </a:prstGeom>
          <a:noFill/>
        </p:spPr>
        <p:txBody>
          <a:bodyPr wrap="square">
            <a:spAutoFit/>
          </a:bodyPr>
          <a:lstStyle/>
          <a:p>
            <a:pPr algn="l"/>
            <a:r>
              <a:rPr sz="1400" b="1" i="0">
                <a:solidFill>
                  <a:srgbClr val="E86A2C"/>
                </a:solidFill>
                <a:latin typeface="Helvetica Neue"/>
              </a:rPr>
              <a:t>Podcast Research Skill</a:t>
            </a:r>
          </a:p>
        </p:txBody>
      </p:sp>
      <p:sp>
        <p:nvSpPr>
          <p:cNvPr id="14" name="TextBox 13"/>
          <p:cNvSpPr txBox="1"/>
          <p:nvPr/>
        </p:nvSpPr>
        <p:spPr>
          <a:xfrm>
            <a:off x="4160520" y="2468880"/>
            <a:ext cx="3017520" cy="1143000"/>
          </a:xfrm>
          <a:prstGeom prst="rect">
            <a:avLst/>
          </a:prstGeom>
          <a:noFill/>
        </p:spPr>
        <p:txBody>
          <a:bodyPr wrap="square">
            <a:spAutoFit/>
          </a:bodyPr>
          <a:lstStyle/>
          <a:p>
            <a:pPr algn="l"/>
            <a:r>
              <a:rPr sz="1300" b="0" i="0">
                <a:solidFill>
                  <a:srgbClr val="6B6255"/>
                </a:solidFill>
                <a:latin typeface="Helvetica Neue"/>
              </a:rPr>
              <a:t>Digs into a guest's background, prior episodes, notable quotes.</a:t>
            </a:r>
          </a:p>
        </p:txBody>
      </p:sp>
      <p:sp>
        <p:nvSpPr>
          <p:cNvPr id="15" name="TextBox 14"/>
          <p:cNvSpPr txBox="1"/>
          <p:nvPr/>
        </p:nvSpPr>
        <p:spPr>
          <a:xfrm>
            <a:off x="7269480" y="2651760"/>
            <a:ext cx="320040" cy="365760"/>
          </a:xfrm>
          <a:prstGeom prst="rect">
            <a:avLst/>
          </a:prstGeom>
          <a:noFill/>
        </p:spPr>
        <p:txBody>
          <a:bodyPr wrap="square">
            <a:spAutoFit/>
          </a:bodyPr>
          <a:lstStyle/>
          <a:p>
            <a:pPr algn="l"/>
            <a:r>
              <a:rPr sz="2400" b="1" i="0">
                <a:solidFill>
                  <a:srgbClr val="E86A2C"/>
                </a:solidFill>
                <a:latin typeface="Helvetica Neue"/>
              </a:rPr>
              <a:t>→</a:t>
            </a:r>
          </a:p>
        </p:txBody>
      </p:sp>
      <p:sp>
        <p:nvSpPr>
          <p:cNvPr id="16" name="Rectangle 15"/>
          <p:cNvSpPr/>
          <p:nvPr/>
        </p:nvSpPr>
        <p:spPr>
          <a:xfrm>
            <a:off x="7635240" y="1920240"/>
            <a:ext cx="3200400" cy="182880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35240" y="1920240"/>
            <a:ext cx="3200400" cy="64008"/>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2057400"/>
            <a:ext cx="3017520" cy="384048"/>
          </a:xfrm>
          <a:prstGeom prst="rect">
            <a:avLst/>
          </a:prstGeom>
          <a:noFill/>
        </p:spPr>
        <p:txBody>
          <a:bodyPr wrap="square">
            <a:spAutoFit/>
          </a:bodyPr>
          <a:lstStyle/>
          <a:p>
            <a:pPr algn="l"/>
            <a:r>
              <a:rPr sz="1400" b="1" i="0">
                <a:solidFill>
                  <a:srgbClr val="E86A2C"/>
                </a:solidFill>
                <a:latin typeface="Helvetica Neue"/>
              </a:rPr>
              <a:t>Morning Brief Skill</a:t>
            </a:r>
          </a:p>
        </p:txBody>
      </p:sp>
      <p:sp>
        <p:nvSpPr>
          <p:cNvPr id="19" name="TextBox 18"/>
          <p:cNvSpPr txBox="1"/>
          <p:nvPr/>
        </p:nvSpPr>
        <p:spPr>
          <a:xfrm>
            <a:off x="7772400" y="2468880"/>
            <a:ext cx="3017520" cy="1143000"/>
          </a:xfrm>
          <a:prstGeom prst="rect">
            <a:avLst/>
          </a:prstGeom>
          <a:noFill/>
        </p:spPr>
        <p:txBody>
          <a:bodyPr wrap="square">
            <a:spAutoFit/>
          </a:bodyPr>
          <a:lstStyle/>
          <a:p>
            <a:pPr algn="l"/>
            <a:r>
              <a:rPr sz="1300" b="0" i="0">
                <a:solidFill>
                  <a:srgbClr val="6B6255"/>
                </a:solidFill>
                <a:latin typeface="Helvetica Neue"/>
              </a:rPr>
              <a:t>Checks your calendar and — if it sees a podcast — auto-triggers the research skill.</a:t>
            </a:r>
          </a:p>
        </p:txBody>
      </p:sp>
      <p:sp>
        <p:nvSpPr>
          <p:cNvPr id="20" name="Rectangle 19"/>
          <p:cNvSpPr/>
          <p:nvPr/>
        </p:nvSpPr>
        <p:spPr>
          <a:xfrm>
            <a:off x="411480" y="3931920"/>
            <a:ext cx="11338560" cy="1554480"/>
          </a:xfrm>
          <a:prstGeom prst="rect">
            <a:avLst/>
          </a:prstGeom>
          <a:solidFill>
            <a:srgbClr val="FFFFFF"/>
          </a:solidFill>
          <a:ln w="15240">
            <a:solidFill>
              <a:srgbClr val="E2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4023360"/>
            <a:ext cx="10972800" cy="384048"/>
          </a:xfrm>
          <a:prstGeom prst="rect">
            <a:avLst/>
          </a:prstGeom>
          <a:noFill/>
        </p:spPr>
        <p:txBody>
          <a:bodyPr wrap="square">
            <a:spAutoFit/>
          </a:bodyPr>
          <a:lstStyle/>
          <a:p>
            <a:pPr algn="l"/>
            <a:r>
              <a:rPr sz="1500" b="1" i="0">
                <a:solidFill>
                  <a:srgbClr val="1A1712"/>
                </a:solidFill>
                <a:latin typeface="Helvetica Neue"/>
              </a:rPr>
              <a:t>Scheduled Tasks  —  Your Agent Works While You Sleep</a:t>
            </a:r>
          </a:p>
        </p:txBody>
      </p:sp>
      <p:sp>
        <p:nvSpPr>
          <p:cNvPr id="22" name="TextBox 21"/>
          <p:cNvSpPr txBox="1"/>
          <p:nvPr/>
        </p:nvSpPr>
        <p:spPr>
          <a:xfrm>
            <a:off x="594360" y="4434840"/>
            <a:ext cx="10972800" cy="914400"/>
          </a:xfrm>
          <a:prstGeom prst="rect">
            <a:avLst/>
          </a:prstGeom>
          <a:noFill/>
        </p:spPr>
        <p:txBody>
          <a:bodyPr wrap="square">
            <a:spAutoFit/>
          </a:bodyPr>
          <a:lstStyle/>
          <a:p>
            <a:pPr algn="l"/>
            <a:r>
              <a:rPr sz="1300" b="0" i="0">
                <a:solidFill>
                  <a:srgbClr val="6B6255"/>
                </a:solidFill>
                <a:latin typeface="Helvetica Neue"/>
              </a:rPr>
              <a:t>Most harnesses now support scheduled tasks. Set your morning brief to run at 7 am. The agent checks your calendar, triggers research skills as needed, and has everything ready before you open your laptop. No manual trigger needed.</a:t>
            </a:r>
          </a:p>
        </p:txBody>
      </p:sp>
      <p:sp>
        <p:nvSpPr>
          <p:cNvPr id="23" name="Rectangle 22"/>
          <p:cNvSpPr/>
          <p:nvPr/>
        </p:nvSpPr>
        <p:spPr>
          <a:xfrm>
            <a:off x="411480" y="5623560"/>
            <a:ext cx="11338560" cy="914400"/>
          </a:xfrm>
          <a:prstGeom prst="rect">
            <a:avLst/>
          </a:prstGeom>
          <a:solidFill>
            <a:srgbClr val="E86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5715000"/>
            <a:ext cx="10972800" cy="685800"/>
          </a:xfrm>
          <a:prstGeom prst="rect">
            <a:avLst/>
          </a:prstGeom>
          <a:noFill/>
        </p:spPr>
        <p:txBody>
          <a:bodyPr wrap="square">
            <a:spAutoFit/>
          </a:bodyPr>
          <a:lstStyle/>
          <a:p>
            <a:pPr algn="ctr"/>
            <a:r>
              <a:rPr sz="1800" b="1" i="0">
                <a:solidFill>
                  <a:srgbClr val="FFFFFF"/>
                </a:solidFill>
                <a:latin typeface="Helvetica Neue"/>
              </a:rPr>
              <a:t>Brain → Memory → Tools → Skills → Chains   =   Your army of digital employees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1278</Words>
  <Application>Microsoft Macintosh PowerPoint</Application>
  <PresentationFormat>Custom</PresentationFormat>
  <Paragraphs>119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andrew katz</cp:lastModifiedBy>
  <cp:revision>3</cp:revision>
  <dcterms:created xsi:type="dcterms:W3CDTF">2013-01-27T09:14:16Z</dcterms:created>
  <dcterms:modified xsi:type="dcterms:W3CDTF">2026-03-20T18:29:39Z</dcterms:modified>
  <cp:category/>
</cp:coreProperties>
</file>